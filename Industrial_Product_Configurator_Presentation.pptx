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1" r:id="rId5"/>
    <p:sldId id="2562" r:id="rId6"/>
    <p:sldId id="2563" r:id="rId7"/>
    <p:sldId id="2564" r:id="rId8"/>
    <p:sldId id="2565" r:id="rId9"/>
    <p:sldId id="2566" r:id="rId10"/>
    <p:sldId id="2575" r:id="rId11"/>
    <p:sldId id="2567" r:id="rId12"/>
    <p:sldId id="2568" r:id="rId13"/>
    <p:sldId id="2569" r:id="rId14"/>
    <p:sldId id="2570" r:id="rId15"/>
    <p:sldId id="2571" r:id="rId16"/>
    <p:sldId id="2572" r:id="rId17"/>
    <p:sldId id="2573" r:id="rId18"/>
    <p:sldId id="25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uilding an Intelligent Industrial Tool Advisor" id="{C852643B-7FEA-4C7F-9D06-94A61E6B0F78}">
          <p14:sldIdLst>
            <p14:sldId id="2561"/>
          </p14:sldIdLst>
        </p14:section>
        <p14:section name="Industrial Tool Advisor Overview" id="{1F506957-3B29-4512-A070-1127C3C0B01B}">
          <p14:sldIdLst>
            <p14:sldId id="2562"/>
            <p14:sldId id="2563"/>
            <p14:sldId id="2564"/>
          </p14:sldIdLst>
        </p14:section>
        <p14:section name="Solution and Architecture" id="{3693C6EF-8A4B-4B67-9C30-2943C19BAFCE}">
          <p14:sldIdLst>
            <p14:sldId id="2565"/>
            <p14:sldId id="2566"/>
            <p14:sldId id="2575"/>
            <p14:sldId id="2567"/>
          </p14:sldIdLst>
        </p14:section>
        <p14:section name="Innovations and Enhancements" id="{82D1CFD4-2318-4708-AA6E-1865E9E0BF93}">
          <p14:sldIdLst>
            <p14:sldId id="2568"/>
            <p14:sldId id="2569"/>
            <p14:sldId id="2570"/>
            <p14:sldId id="2571"/>
          </p14:sldIdLst>
        </p14:section>
        <p14:section name="Evaluation, Lessons, and Future" id="{D8360E93-C841-4749-8254-CC33B9516BB8}">
          <p14:sldIdLst>
            <p14:sldId id="2572"/>
            <p14:sldId id="2573"/>
            <p14:sldId id="25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86DFC1-F863-4209-9F73-0E2E4248F9AF}" v="16" dt="2026-02-25T03:32:43.4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0" d="100"/>
          <a:sy n="90" d="100"/>
        </p:scale>
        <p:origin x="398"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E26124-EF44-4FE4-95B6-6EF0F11F21B4}"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10CB4983-5984-4FDE-9C79-6812DC618005}">
      <dgm:prSet/>
      <dgm:spPr/>
      <dgm:t>
        <a:bodyPr/>
        <a:lstStyle/>
        <a:p>
          <a:pPr>
            <a:lnSpc>
              <a:spcPct val="100000"/>
            </a:lnSpc>
            <a:defRPr b="1"/>
          </a:pPr>
          <a:r>
            <a:rPr lang="en-US"/>
            <a:t>Limitations of Traditional Methods</a:t>
          </a:r>
        </a:p>
      </dgm:t>
    </dgm:pt>
    <dgm:pt modelId="{84EB44AD-A6D2-4580-8C87-2A35E02ED523}" type="parTrans" cxnId="{F0B7FFFD-B560-4C09-B82A-B062685FD9FE}">
      <dgm:prSet/>
      <dgm:spPr/>
      <dgm:t>
        <a:bodyPr/>
        <a:lstStyle/>
        <a:p>
          <a:endParaRPr lang="en-US"/>
        </a:p>
      </dgm:t>
    </dgm:pt>
    <dgm:pt modelId="{6F6C7AF3-0BED-4A44-AB79-2055E9CF3C74}" type="sibTrans" cxnId="{F0B7FFFD-B560-4C09-B82A-B062685FD9FE}">
      <dgm:prSet/>
      <dgm:spPr/>
      <dgm:t>
        <a:bodyPr/>
        <a:lstStyle/>
        <a:p>
          <a:pPr>
            <a:lnSpc>
              <a:spcPct val="100000"/>
            </a:lnSpc>
            <a:defRPr b="1"/>
          </a:pPr>
          <a:endParaRPr lang="en-US"/>
        </a:p>
      </dgm:t>
    </dgm:pt>
    <dgm:pt modelId="{63850E7E-8E11-4DD1-A383-9056202C5B6D}">
      <dgm:prSet/>
      <dgm:spPr/>
      <dgm:t>
        <a:bodyPr/>
        <a:lstStyle/>
        <a:p>
          <a:pPr>
            <a:lnSpc>
              <a:spcPct val="100000"/>
            </a:lnSpc>
          </a:pPr>
          <a:r>
            <a:rPr lang="en-US"/>
            <a:t>Semantic search alone may miss exact tool specifications; metadata filtering cannot handle natural language queries well.</a:t>
          </a:r>
        </a:p>
      </dgm:t>
    </dgm:pt>
    <dgm:pt modelId="{6F792816-D6F9-49F8-A7A4-72DEF741DC25}" type="parTrans" cxnId="{E697022D-E3DB-4CFE-BB13-1EE73112F169}">
      <dgm:prSet/>
      <dgm:spPr/>
      <dgm:t>
        <a:bodyPr/>
        <a:lstStyle/>
        <a:p>
          <a:endParaRPr lang="en-US"/>
        </a:p>
      </dgm:t>
    </dgm:pt>
    <dgm:pt modelId="{5A9F69C5-C83F-4733-9728-422D31F1FB44}" type="sibTrans" cxnId="{E697022D-E3DB-4CFE-BB13-1EE73112F169}">
      <dgm:prSet/>
      <dgm:spPr/>
      <dgm:t>
        <a:bodyPr/>
        <a:lstStyle/>
        <a:p>
          <a:endParaRPr lang="en-US"/>
        </a:p>
      </dgm:t>
    </dgm:pt>
    <dgm:pt modelId="{A872DBEF-05D7-4B57-A865-1FAA2318531B}">
      <dgm:prSet/>
      <dgm:spPr/>
      <dgm:t>
        <a:bodyPr/>
        <a:lstStyle/>
        <a:p>
          <a:pPr>
            <a:lnSpc>
              <a:spcPct val="100000"/>
            </a:lnSpc>
            <a:defRPr b="1"/>
          </a:pPr>
          <a:r>
            <a:rPr lang="en-US"/>
            <a:t>Hybrid Retrieval Approach</a:t>
          </a:r>
        </a:p>
      </dgm:t>
    </dgm:pt>
    <dgm:pt modelId="{5DB51942-2043-4DBD-B99D-F0378D0B23C7}" type="parTrans" cxnId="{27BB7203-C2C2-44E6-816E-E9E5A848FA7F}">
      <dgm:prSet/>
      <dgm:spPr/>
      <dgm:t>
        <a:bodyPr/>
        <a:lstStyle/>
        <a:p>
          <a:endParaRPr lang="en-US"/>
        </a:p>
      </dgm:t>
    </dgm:pt>
    <dgm:pt modelId="{C612A169-3F28-42DB-AE79-6F75B23FD19D}" type="sibTrans" cxnId="{27BB7203-C2C2-44E6-816E-E9E5A848FA7F}">
      <dgm:prSet/>
      <dgm:spPr/>
      <dgm:t>
        <a:bodyPr/>
        <a:lstStyle/>
        <a:p>
          <a:pPr>
            <a:lnSpc>
              <a:spcPct val="100000"/>
            </a:lnSpc>
            <a:defRPr b="1"/>
          </a:pPr>
          <a:endParaRPr lang="en-US"/>
        </a:p>
      </dgm:t>
    </dgm:pt>
    <dgm:pt modelId="{9243AEBC-EF02-4B96-A9EC-EAC7CEBAC3FE}">
      <dgm:prSet/>
      <dgm:spPr/>
      <dgm:t>
        <a:bodyPr/>
        <a:lstStyle/>
        <a:p>
          <a:pPr>
            <a:lnSpc>
              <a:spcPct val="100000"/>
            </a:lnSpc>
          </a:pPr>
          <a:r>
            <a:rPr lang="en-US"/>
            <a:t>Combines filter extraction from queries with semantic ranking to improve precision and contextual relevance in tool selection.</a:t>
          </a:r>
        </a:p>
      </dgm:t>
    </dgm:pt>
    <dgm:pt modelId="{5F806FF7-2158-4E52-BBE7-CB24E18CE16D}" type="parTrans" cxnId="{00A61E5E-6C83-41E9-844C-2300B05E90B4}">
      <dgm:prSet/>
      <dgm:spPr/>
      <dgm:t>
        <a:bodyPr/>
        <a:lstStyle/>
        <a:p>
          <a:endParaRPr lang="en-US"/>
        </a:p>
      </dgm:t>
    </dgm:pt>
    <dgm:pt modelId="{2F5F4069-CFFF-4212-9DF5-E41669779262}" type="sibTrans" cxnId="{00A61E5E-6C83-41E9-844C-2300B05E90B4}">
      <dgm:prSet/>
      <dgm:spPr/>
      <dgm:t>
        <a:bodyPr/>
        <a:lstStyle/>
        <a:p>
          <a:endParaRPr lang="en-US"/>
        </a:p>
      </dgm:t>
    </dgm:pt>
    <dgm:pt modelId="{4FCAB5B5-4391-4B0D-8511-3C1765ECD662}">
      <dgm:prSet/>
      <dgm:spPr/>
      <dgm:t>
        <a:bodyPr/>
        <a:lstStyle/>
        <a:p>
          <a:pPr>
            <a:lnSpc>
              <a:spcPct val="100000"/>
            </a:lnSpc>
            <a:defRPr b="1"/>
          </a:pPr>
          <a:r>
            <a:rPr lang="en-US"/>
            <a:t>Benefits of Hybrid System</a:t>
          </a:r>
        </a:p>
      </dgm:t>
    </dgm:pt>
    <dgm:pt modelId="{546B4137-234C-4391-B801-22712B1AB745}" type="parTrans" cxnId="{914242DE-CF62-46D6-86DD-C2352F2BE0DA}">
      <dgm:prSet/>
      <dgm:spPr/>
      <dgm:t>
        <a:bodyPr/>
        <a:lstStyle/>
        <a:p>
          <a:endParaRPr lang="en-US"/>
        </a:p>
      </dgm:t>
    </dgm:pt>
    <dgm:pt modelId="{D80DC162-1535-4A5A-A284-CBA209A41C13}" type="sibTrans" cxnId="{914242DE-CF62-46D6-86DD-C2352F2BE0DA}">
      <dgm:prSet/>
      <dgm:spPr/>
      <dgm:t>
        <a:bodyPr/>
        <a:lstStyle/>
        <a:p>
          <a:endParaRPr lang="en-US"/>
        </a:p>
      </dgm:t>
    </dgm:pt>
    <dgm:pt modelId="{DAA91E6A-88FC-423D-89B5-F4D20137E4DC}">
      <dgm:prSet/>
      <dgm:spPr/>
      <dgm:t>
        <a:bodyPr/>
        <a:lstStyle/>
        <a:p>
          <a:pPr>
            <a:lnSpc>
              <a:spcPct val="100000"/>
            </a:lnSpc>
          </a:pPr>
          <a:r>
            <a:rPr lang="en-US"/>
            <a:t>Reduces false positives, minimizes hallucination risks, and ensures robustness with precise and context-aware results.</a:t>
          </a:r>
        </a:p>
      </dgm:t>
    </dgm:pt>
    <dgm:pt modelId="{A999EAED-2AEE-4769-8554-8CBB3667E5F3}" type="parTrans" cxnId="{8176E782-1E39-4054-AC91-B6651C5A1F2A}">
      <dgm:prSet/>
      <dgm:spPr/>
      <dgm:t>
        <a:bodyPr/>
        <a:lstStyle/>
        <a:p>
          <a:endParaRPr lang="en-US"/>
        </a:p>
      </dgm:t>
    </dgm:pt>
    <dgm:pt modelId="{D65AF58A-DC35-4D50-BDFB-DFAD9583D9D5}" type="sibTrans" cxnId="{8176E782-1E39-4054-AC91-B6651C5A1F2A}">
      <dgm:prSet/>
      <dgm:spPr/>
      <dgm:t>
        <a:bodyPr/>
        <a:lstStyle/>
        <a:p>
          <a:endParaRPr lang="en-US"/>
        </a:p>
      </dgm:t>
    </dgm:pt>
    <dgm:pt modelId="{9BA1A12D-5F13-4D9A-9829-B0E462C3B7EF}" type="pres">
      <dgm:prSet presAssocID="{2DE26124-EF44-4FE4-95B6-6EF0F11F21B4}" presName="Root" presStyleCnt="0">
        <dgm:presLayoutVars>
          <dgm:dir/>
          <dgm:resizeHandles val="exact"/>
        </dgm:presLayoutVars>
      </dgm:prSet>
      <dgm:spPr/>
    </dgm:pt>
    <dgm:pt modelId="{62291FDC-BF3D-4804-8F26-39E45673014B}" type="pres">
      <dgm:prSet presAssocID="{10CB4983-5984-4FDE-9C79-6812DC618005}" presName="Composite" presStyleCnt="0"/>
      <dgm:spPr/>
    </dgm:pt>
    <dgm:pt modelId="{BEC3F7E5-8E51-470A-A5FE-560F5885E49B}" type="pres">
      <dgm:prSet presAssocID="{10CB4983-5984-4FDE-9C79-6812DC618005}"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3779" r="31468" b="-4"/>
          <a:stretch/>
        </a:blipFill>
      </dgm:spPr>
      <dgm:extLst>
        <a:ext uri="{E40237B7-FDA0-4F09-8148-C483321AD2D9}">
          <dgm14:cNvPr xmlns:dgm14="http://schemas.microsoft.com/office/drawing/2010/diagram" id="0" name="" descr="Mechanic tools neatly arranged on yellow wall"/>
        </a:ext>
      </dgm:extLst>
    </dgm:pt>
    <dgm:pt modelId="{C65B4CDA-1D49-449E-A0AD-39D8CC71BA55}" type="pres">
      <dgm:prSet presAssocID="{10CB4983-5984-4FDE-9C79-6812DC618005}" presName="Subtitle" presStyleLbl="revTx" presStyleIdx="0" presStyleCnt="6">
        <dgm:presLayoutVars>
          <dgm:chMax val="0"/>
          <dgm:bulletEnabled/>
        </dgm:presLayoutVars>
      </dgm:prSet>
      <dgm:spPr/>
    </dgm:pt>
    <dgm:pt modelId="{AD926D9E-5500-4E5A-AB90-FE0B1D1EFD21}" type="pres">
      <dgm:prSet presAssocID="{10CB4983-5984-4FDE-9C79-6812DC618005}" presName="Description" presStyleLbl="revTx" presStyleIdx="1" presStyleCnt="6">
        <dgm:presLayoutVars>
          <dgm:bulletEnabled/>
        </dgm:presLayoutVars>
      </dgm:prSet>
      <dgm:spPr/>
    </dgm:pt>
    <dgm:pt modelId="{E5DB19A8-5B75-4BA3-8531-95E2706250FE}" type="pres">
      <dgm:prSet presAssocID="{6F6C7AF3-0BED-4A44-AB79-2055E9CF3C74}" presName="sibTrans" presStyleLbl="sibTrans2D1" presStyleIdx="0" presStyleCnt="0"/>
      <dgm:spPr/>
    </dgm:pt>
    <dgm:pt modelId="{6F953D9A-7109-4974-AEC2-D3660772D32C}" type="pres">
      <dgm:prSet presAssocID="{A872DBEF-05D7-4B57-A865-1FAA2318531B}" presName="Composite" presStyleCnt="0"/>
      <dgm:spPr/>
    </dgm:pt>
    <dgm:pt modelId="{340C365D-CA59-4CCE-BCC7-00C92237F2F4}" type="pres">
      <dgm:prSet presAssocID="{A872DBEF-05D7-4B57-A865-1FAA2318531B}"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9737" r="23513"/>
          <a:stretch/>
        </a:blipFill>
      </dgm:spPr>
      <dgm:extLst>
        <a:ext uri="{E40237B7-FDA0-4F09-8148-C483321AD2D9}">
          <dgm14:cNvPr xmlns:dgm14="http://schemas.microsoft.com/office/drawing/2010/diagram" id="0" name="" descr="Red Communication bubbles with copy space are connected each other with black arrows. This image shows the social media, and online communication between people."/>
        </a:ext>
      </dgm:extLst>
    </dgm:pt>
    <dgm:pt modelId="{6D2D50F6-E0F9-4691-89B6-278AC081C45C}" type="pres">
      <dgm:prSet presAssocID="{A872DBEF-05D7-4B57-A865-1FAA2318531B}" presName="Subtitle" presStyleLbl="revTx" presStyleIdx="2" presStyleCnt="6">
        <dgm:presLayoutVars>
          <dgm:chMax val="0"/>
          <dgm:bulletEnabled/>
        </dgm:presLayoutVars>
      </dgm:prSet>
      <dgm:spPr/>
    </dgm:pt>
    <dgm:pt modelId="{DC067E5E-354E-4426-A2CB-236C054F6101}" type="pres">
      <dgm:prSet presAssocID="{A872DBEF-05D7-4B57-A865-1FAA2318531B}" presName="Description" presStyleLbl="revTx" presStyleIdx="3" presStyleCnt="6">
        <dgm:presLayoutVars>
          <dgm:bulletEnabled/>
        </dgm:presLayoutVars>
      </dgm:prSet>
      <dgm:spPr/>
    </dgm:pt>
    <dgm:pt modelId="{531A9C0C-C23F-4A76-8A71-F2F5810D72F3}" type="pres">
      <dgm:prSet presAssocID="{C612A169-3F28-42DB-AE79-6F75B23FD19D}" presName="sibTrans" presStyleLbl="sibTrans2D1" presStyleIdx="0" presStyleCnt="0"/>
      <dgm:spPr/>
    </dgm:pt>
    <dgm:pt modelId="{5AAAEF6B-224E-4C77-B9DF-CA37C1357484}" type="pres">
      <dgm:prSet presAssocID="{4FCAB5B5-4391-4B0D-8511-3C1765ECD662}" presName="Composite" presStyleCnt="0"/>
      <dgm:spPr/>
    </dgm:pt>
    <dgm:pt modelId="{5C3BDA72-11E6-463C-9282-68AC03601BFA}" type="pres">
      <dgm:prSet presAssocID="{4FCAB5B5-4391-4B0D-8511-3C1765ECD662}"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2022" r="11228"/>
          <a:stretch/>
        </a:blipFill>
      </dgm:spPr>
      <dgm:extLst>
        <a:ext uri="{E40237B7-FDA0-4F09-8148-C483321AD2D9}">
          <dgm14:cNvPr xmlns:dgm14="http://schemas.microsoft.com/office/drawing/2010/diagram" id="0" name="" descr="Caliper on white."/>
        </a:ext>
      </dgm:extLst>
    </dgm:pt>
    <dgm:pt modelId="{E7259EF4-2FDC-4745-9838-04085A4571FB}" type="pres">
      <dgm:prSet presAssocID="{4FCAB5B5-4391-4B0D-8511-3C1765ECD662}" presName="Subtitle" presStyleLbl="revTx" presStyleIdx="4" presStyleCnt="6">
        <dgm:presLayoutVars>
          <dgm:chMax val="0"/>
          <dgm:bulletEnabled/>
        </dgm:presLayoutVars>
      </dgm:prSet>
      <dgm:spPr/>
    </dgm:pt>
    <dgm:pt modelId="{18E4C21B-4C12-4EB2-8320-997C47DCA7A6}" type="pres">
      <dgm:prSet presAssocID="{4FCAB5B5-4391-4B0D-8511-3C1765ECD662}" presName="Description" presStyleLbl="revTx" presStyleIdx="5" presStyleCnt="6">
        <dgm:presLayoutVars>
          <dgm:bulletEnabled/>
        </dgm:presLayoutVars>
      </dgm:prSet>
      <dgm:spPr/>
    </dgm:pt>
  </dgm:ptLst>
  <dgm:cxnLst>
    <dgm:cxn modelId="{27BB7203-C2C2-44E6-816E-E9E5A848FA7F}" srcId="{2DE26124-EF44-4FE4-95B6-6EF0F11F21B4}" destId="{A872DBEF-05D7-4B57-A865-1FAA2318531B}" srcOrd="1" destOrd="0" parTransId="{5DB51942-2043-4DBD-B99D-F0378D0B23C7}" sibTransId="{C612A169-3F28-42DB-AE79-6F75B23FD19D}"/>
    <dgm:cxn modelId="{98B70E0F-565B-4B0A-BC6D-073BBABB3C83}" type="presOf" srcId="{10CB4983-5984-4FDE-9C79-6812DC618005}" destId="{C65B4CDA-1D49-449E-A0AD-39D8CC71BA55}" srcOrd="0" destOrd="0" presId="urn:microsoft.com/office/officeart/2024/3/layout/verticalVisualTextBlock1"/>
    <dgm:cxn modelId="{E697022D-E3DB-4CFE-BB13-1EE73112F169}" srcId="{10CB4983-5984-4FDE-9C79-6812DC618005}" destId="{63850E7E-8E11-4DD1-A383-9056202C5B6D}" srcOrd="0" destOrd="0" parTransId="{6F792816-D6F9-49F8-A7A4-72DEF741DC25}" sibTransId="{5A9F69C5-C83F-4733-9728-422D31F1FB44}"/>
    <dgm:cxn modelId="{00A61E5E-6C83-41E9-844C-2300B05E90B4}" srcId="{A872DBEF-05D7-4B57-A865-1FAA2318531B}" destId="{9243AEBC-EF02-4B96-A9EC-EAC7CEBAC3FE}" srcOrd="0" destOrd="0" parTransId="{5F806FF7-2158-4E52-BBE7-CB24E18CE16D}" sibTransId="{2F5F4069-CFFF-4212-9DF5-E41669779262}"/>
    <dgm:cxn modelId="{A7324F4E-20A7-4352-822C-B05C48E9B061}" type="presOf" srcId="{A872DBEF-05D7-4B57-A865-1FAA2318531B}" destId="{6D2D50F6-E0F9-4691-89B6-278AC081C45C}" srcOrd="0" destOrd="0" presId="urn:microsoft.com/office/officeart/2024/3/layout/verticalVisualTextBlock1"/>
    <dgm:cxn modelId="{D5730A6F-0D26-4397-AB5E-D89A878C29B9}" type="presOf" srcId="{C612A169-3F28-42DB-AE79-6F75B23FD19D}" destId="{531A9C0C-C23F-4A76-8A71-F2F5810D72F3}" srcOrd="0" destOrd="0" presId="urn:microsoft.com/office/officeart/2024/3/layout/verticalVisualTextBlock1"/>
    <dgm:cxn modelId="{8176E782-1E39-4054-AC91-B6651C5A1F2A}" srcId="{4FCAB5B5-4391-4B0D-8511-3C1765ECD662}" destId="{DAA91E6A-88FC-423D-89B5-F4D20137E4DC}" srcOrd="0" destOrd="0" parTransId="{A999EAED-2AEE-4769-8554-8CBB3667E5F3}" sibTransId="{D65AF58A-DC35-4D50-BDFB-DFAD9583D9D5}"/>
    <dgm:cxn modelId="{BECA9589-8288-4408-AD46-CFA5E53C7D32}" type="presOf" srcId="{63850E7E-8E11-4DD1-A383-9056202C5B6D}" destId="{AD926D9E-5500-4E5A-AB90-FE0B1D1EFD21}" srcOrd="0" destOrd="0" presId="urn:microsoft.com/office/officeart/2024/3/layout/verticalVisualTextBlock1"/>
    <dgm:cxn modelId="{8377AB9B-DC1B-4F6F-82B6-DE4F76B0F5CD}" type="presOf" srcId="{6F6C7AF3-0BED-4A44-AB79-2055E9CF3C74}" destId="{E5DB19A8-5B75-4BA3-8531-95E2706250FE}" srcOrd="0" destOrd="0" presId="urn:microsoft.com/office/officeart/2024/3/layout/verticalVisualTextBlock1"/>
    <dgm:cxn modelId="{331A30C6-B63D-4AF9-8174-1C654B75D96D}" type="presOf" srcId="{2DE26124-EF44-4FE4-95B6-6EF0F11F21B4}" destId="{9BA1A12D-5F13-4D9A-9829-B0E462C3B7EF}" srcOrd="0" destOrd="0" presId="urn:microsoft.com/office/officeart/2024/3/layout/verticalVisualTextBlock1"/>
    <dgm:cxn modelId="{914242DE-CF62-46D6-86DD-C2352F2BE0DA}" srcId="{2DE26124-EF44-4FE4-95B6-6EF0F11F21B4}" destId="{4FCAB5B5-4391-4B0D-8511-3C1765ECD662}" srcOrd="2" destOrd="0" parTransId="{546B4137-234C-4391-B801-22712B1AB745}" sibTransId="{D80DC162-1535-4A5A-A284-CBA209A41C13}"/>
    <dgm:cxn modelId="{8FA2DAE7-A0B6-40B4-93C0-E513C7635374}" type="presOf" srcId="{4FCAB5B5-4391-4B0D-8511-3C1765ECD662}" destId="{E7259EF4-2FDC-4745-9838-04085A4571FB}" srcOrd="0" destOrd="0" presId="urn:microsoft.com/office/officeart/2024/3/layout/verticalVisualTextBlock1"/>
    <dgm:cxn modelId="{96BE77EA-BDBC-49D6-B0AE-F9A79EE5D617}" type="presOf" srcId="{9243AEBC-EF02-4B96-A9EC-EAC7CEBAC3FE}" destId="{DC067E5E-354E-4426-A2CB-236C054F6101}" srcOrd="0" destOrd="0" presId="urn:microsoft.com/office/officeart/2024/3/layout/verticalVisualTextBlock1"/>
    <dgm:cxn modelId="{AC0F41FB-6E84-4106-A151-9832F0A4F2C2}" type="presOf" srcId="{DAA91E6A-88FC-423D-89B5-F4D20137E4DC}" destId="{18E4C21B-4C12-4EB2-8320-997C47DCA7A6}" srcOrd="0" destOrd="0" presId="urn:microsoft.com/office/officeart/2024/3/layout/verticalVisualTextBlock1"/>
    <dgm:cxn modelId="{F0B7FFFD-B560-4C09-B82A-B062685FD9FE}" srcId="{2DE26124-EF44-4FE4-95B6-6EF0F11F21B4}" destId="{10CB4983-5984-4FDE-9C79-6812DC618005}" srcOrd="0" destOrd="0" parTransId="{84EB44AD-A6D2-4580-8C87-2A35E02ED523}" sibTransId="{6F6C7AF3-0BED-4A44-AB79-2055E9CF3C74}"/>
    <dgm:cxn modelId="{CA64ABCC-B1D9-4CB5-BCAB-0646BFE5E712}" type="presParOf" srcId="{9BA1A12D-5F13-4D9A-9829-B0E462C3B7EF}" destId="{62291FDC-BF3D-4804-8F26-39E45673014B}" srcOrd="0" destOrd="0" presId="urn:microsoft.com/office/officeart/2024/3/layout/verticalVisualTextBlock1"/>
    <dgm:cxn modelId="{1172E329-B760-40BA-81CE-9E626F2458D2}" type="presParOf" srcId="{62291FDC-BF3D-4804-8F26-39E45673014B}" destId="{BEC3F7E5-8E51-470A-A5FE-560F5885E49B}" srcOrd="0" destOrd="0" presId="urn:microsoft.com/office/officeart/2024/3/layout/verticalVisualTextBlock1"/>
    <dgm:cxn modelId="{F071A3A6-8FF5-4192-A082-C03F65E2DE0E}" type="presParOf" srcId="{62291FDC-BF3D-4804-8F26-39E45673014B}" destId="{C65B4CDA-1D49-449E-A0AD-39D8CC71BA55}" srcOrd="1" destOrd="0" presId="urn:microsoft.com/office/officeart/2024/3/layout/verticalVisualTextBlock1"/>
    <dgm:cxn modelId="{55E4A333-F0EC-48CA-870C-F8D4E2CE9F09}" type="presParOf" srcId="{62291FDC-BF3D-4804-8F26-39E45673014B}" destId="{AD926D9E-5500-4E5A-AB90-FE0B1D1EFD21}" srcOrd="2" destOrd="0" presId="urn:microsoft.com/office/officeart/2024/3/layout/verticalVisualTextBlock1"/>
    <dgm:cxn modelId="{4F9F9293-D7A6-4EEE-8ABE-2CC78D3E37EE}" type="presParOf" srcId="{9BA1A12D-5F13-4D9A-9829-B0E462C3B7EF}" destId="{E5DB19A8-5B75-4BA3-8531-95E2706250FE}" srcOrd="1" destOrd="0" presId="urn:microsoft.com/office/officeart/2024/3/layout/verticalVisualTextBlock1"/>
    <dgm:cxn modelId="{76E785D4-0DE5-4486-9380-C04E83BBA1F9}" type="presParOf" srcId="{9BA1A12D-5F13-4D9A-9829-B0E462C3B7EF}" destId="{6F953D9A-7109-4974-AEC2-D3660772D32C}" srcOrd="2" destOrd="0" presId="urn:microsoft.com/office/officeart/2024/3/layout/verticalVisualTextBlock1"/>
    <dgm:cxn modelId="{4D21096C-6F5A-4FB1-904D-B08FD0802C10}" type="presParOf" srcId="{6F953D9A-7109-4974-AEC2-D3660772D32C}" destId="{340C365D-CA59-4CCE-BCC7-00C92237F2F4}" srcOrd="0" destOrd="0" presId="urn:microsoft.com/office/officeart/2024/3/layout/verticalVisualTextBlock1"/>
    <dgm:cxn modelId="{098F14B1-5BB1-4020-BAFF-F8858DE42247}" type="presParOf" srcId="{6F953D9A-7109-4974-AEC2-D3660772D32C}" destId="{6D2D50F6-E0F9-4691-89B6-278AC081C45C}" srcOrd="1" destOrd="0" presId="urn:microsoft.com/office/officeart/2024/3/layout/verticalVisualTextBlock1"/>
    <dgm:cxn modelId="{882F3CFE-B520-4A10-BD35-A7D9FBD1ABAB}" type="presParOf" srcId="{6F953D9A-7109-4974-AEC2-D3660772D32C}" destId="{DC067E5E-354E-4426-A2CB-236C054F6101}" srcOrd="2" destOrd="0" presId="urn:microsoft.com/office/officeart/2024/3/layout/verticalVisualTextBlock1"/>
    <dgm:cxn modelId="{D67EE74D-8DF9-49DF-80B2-E3D5D377BBEC}" type="presParOf" srcId="{9BA1A12D-5F13-4D9A-9829-B0E462C3B7EF}" destId="{531A9C0C-C23F-4A76-8A71-F2F5810D72F3}" srcOrd="3" destOrd="0" presId="urn:microsoft.com/office/officeart/2024/3/layout/verticalVisualTextBlock1"/>
    <dgm:cxn modelId="{D90BABD4-2149-4A96-A117-94DCEA595B08}" type="presParOf" srcId="{9BA1A12D-5F13-4D9A-9829-B0E462C3B7EF}" destId="{5AAAEF6B-224E-4C77-B9DF-CA37C1357484}" srcOrd="4" destOrd="0" presId="urn:microsoft.com/office/officeart/2024/3/layout/verticalVisualTextBlock1"/>
    <dgm:cxn modelId="{F3FB5549-EA7B-445F-B2DE-3540C831368A}" type="presParOf" srcId="{5AAAEF6B-224E-4C77-B9DF-CA37C1357484}" destId="{5C3BDA72-11E6-463C-9282-68AC03601BFA}" srcOrd="0" destOrd="0" presId="urn:microsoft.com/office/officeart/2024/3/layout/verticalVisualTextBlock1"/>
    <dgm:cxn modelId="{E33FA335-01F2-4661-A3B5-D250310DCCF6}" type="presParOf" srcId="{5AAAEF6B-224E-4C77-B9DF-CA37C1357484}" destId="{E7259EF4-2FDC-4745-9838-04085A4571FB}" srcOrd="1" destOrd="0" presId="urn:microsoft.com/office/officeart/2024/3/layout/verticalVisualTextBlock1"/>
    <dgm:cxn modelId="{FA2F4F92-2746-43D7-971B-2C1138482182}" type="presParOf" srcId="{5AAAEF6B-224E-4C77-B9DF-CA37C1357484}" destId="{18E4C21B-4C12-4EB2-8320-997C47DCA7A6}"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C3F7E5-8E51-470A-A5FE-560F5885E49B}">
      <dsp:nvSpPr>
        <dsp:cNvPr id="0" name=""/>
        <dsp:cNvSpPr/>
      </dsp:nvSpPr>
      <dsp:spPr>
        <a:xfrm>
          <a:off x="0" y="0"/>
          <a:ext cx="1428179" cy="142817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3779" r="31468" b="-4"/>
          <a:stretch/>
        </a:blipFill>
        <a:ln>
          <a:noFill/>
        </a:ln>
        <a:effectLst/>
      </dsp:spPr>
      <dsp:style>
        <a:lnRef idx="0">
          <a:scrgbClr r="0" g="0" b="0"/>
        </a:lnRef>
        <a:fillRef idx="3">
          <a:scrgbClr r="0" g="0" b="0"/>
        </a:fillRef>
        <a:effectRef idx="2">
          <a:scrgbClr r="0" g="0" b="0"/>
        </a:effectRef>
        <a:fontRef idx="minor">
          <a:schemeClr val="lt1"/>
        </a:fontRef>
      </dsp:style>
    </dsp:sp>
    <dsp:sp modelId="{C65B4CDA-1D49-449E-A0AD-39D8CC71BA55}">
      <dsp:nvSpPr>
        <dsp:cNvPr id="0" name=""/>
        <dsp:cNvSpPr/>
      </dsp:nvSpPr>
      <dsp:spPr>
        <a:xfrm>
          <a:off x="1608179" y="0"/>
          <a:ext cx="9355476" cy="36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Limitations of Traditional Methods</a:t>
          </a:r>
        </a:p>
      </dsp:txBody>
      <dsp:txXfrm>
        <a:off x="1608179" y="0"/>
        <a:ext cx="9355476" cy="367778"/>
      </dsp:txXfrm>
    </dsp:sp>
    <dsp:sp modelId="{AD926D9E-5500-4E5A-AB90-FE0B1D1EFD21}">
      <dsp:nvSpPr>
        <dsp:cNvPr id="0" name=""/>
        <dsp:cNvSpPr/>
      </dsp:nvSpPr>
      <dsp:spPr>
        <a:xfrm>
          <a:off x="1608179" y="367778"/>
          <a:ext cx="9355476" cy="106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Semantic search alone may miss exact tool specifications; metadata filtering cannot handle natural language queries well.</a:t>
          </a:r>
        </a:p>
      </dsp:txBody>
      <dsp:txXfrm>
        <a:off x="1608179" y="367778"/>
        <a:ext cx="9355476" cy="1060400"/>
      </dsp:txXfrm>
    </dsp:sp>
    <dsp:sp modelId="{340C365D-CA59-4CCE-BCC7-00C92237F2F4}">
      <dsp:nvSpPr>
        <dsp:cNvPr id="0" name=""/>
        <dsp:cNvSpPr/>
      </dsp:nvSpPr>
      <dsp:spPr>
        <a:xfrm>
          <a:off x="0" y="1542433"/>
          <a:ext cx="1428179" cy="142817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9737" r="23513"/>
          <a:stretch/>
        </a:blipFill>
        <a:ln>
          <a:noFill/>
        </a:ln>
        <a:effectLst/>
      </dsp:spPr>
      <dsp:style>
        <a:lnRef idx="0">
          <a:scrgbClr r="0" g="0" b="0"/>
        </a:lnRef>
        <a:fillRef idx="3">
          <a:scrgbClr r="0" g="0" b="0"/>
        </a:fillRef>
        <a:effectRef idx="2">
          <a:scrgbClr r="0" g="0" b="0"/>
        </a:effectRef>
        <a:fontRef idx="minor">
          <a:schemeClr val="lt1"/>
        </a:fontRef>
      </dsp:style>
    </dsp:sp>
    <dsp:sp modelId="{6D2D50F6-E0F9-4691-89B6-278AC081C45C}">
      <dsp:nvSpPr>
        <dsp:cNvPr id="0" name=""/>
        <dsp:cNvSpPr/>
      </dsp:nvSpPr>
      <dsp:spPr>
        <a:xfrm>
          <a:off x="1608179" y="1542433"/>
          <a:ext cx="9355476" cy="36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Hybrid Retrieval Approach</a:t>
          </a:r>
        </a:p>
      </dsp:txBody>
      <dsp:txXfrm>
        <a:off x="1608179" y="1542433"/>
        <a:ext cx="9355476" cy="367778"/>
      </dsp:txXfrm>
    </dsp:sp>
    <dsp:sp modelId="{DC067E5E-354E-4426-A2CB-236C054F6101}">
      <dsp:nvSpPr>
        <dsp:cNvPr id="0" name=""/>
        <dsp:cNvSpPr/>
      </dsp:nvSpPr>
      <dsp:spPr>
        <a:xfrm>
          <a:off x="1608179" y="1910212"/>
          <a:ext cx="9355476" cy="106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Combines filter extraction from queries with semantic ranking to improve precision and contextual relevance in tool selection.</a:t>
          </a:r>
        </a:p>
      </dsp:txBody>
      <dsp:txXfrm>
        <a:off x="1608179" y="1910212"/>
        <a:ext cx="9355476" cy="1060400"/>
      </dsp:txXfrm>
    </dsp:sp>
    <dsp:sp modelId="{5C3BDA72-11E6-463C-9282-68AC03601BFA}">
      <dsp:nvSpPr>
        <dsp:cNvPr id="0" name=""/>
        <dsp:cNvSpPr/>
      </dsp:nvSpPr>
      <dsp:spPr>
        <a:xfrm>
          <a:off x="0" y="3084867"/>
          <a:ext cx="1428179" cy="142817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2022" r="11228"/>
          <a:stretch/>
        </a:blipFill>
        <a:ln>
          <a:noFill/>
        </a:ln>
        <a:effectLst/>
      </dsp:spPr>
      <dsp:style>
        <a:lnRef idx="0">
          <a:scrgbClr r="0" g="0" b="0"/>
        </a:lnRef>
        <a:fillRef idx="3">
          <a:scrgbClr r="0" g="0" b="0"/>
        </a:fillRef>
        <a:effectRef idx="2">
          <a:scrgbClr r="0" g="0" b="0"/>
        </a:effectRef>
        <a:fontRef idx="minor">
          <a:schemeClr val="lt1"/>
        </a:fontRef>
      </dsp:style>
    </dsp:sp>
    <dsp:sp modelId="{E7259EF4-2FDC-4745-9838-04085A4571FB}">
      <dsp:nvSpPr>
        <dsp:cNvPr id="0" name=""/>
        <dsp:cNvSpPr/>
      </dsp:nvSpPr>
      <dsp:spPr>
        <a:xfrm>
          <a:off x="1608179" y="3084867"/>
          <a:ext cx="9355476" cy="36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Benefits of Hybrid System</a:t>
          </a:r>
        </a:p>
      </dsp:txBody>
      <dsp:txXfrm>
        <a:off x="1608179" y="3084867"/>
        <a:ext cx="9355476" cy="367778"/>
      </dsp:txXfrm>
    </dsp:sp>
    <dsp:sp modelId="{18E4C21B-4C12-4EB2-8320-997C47DCA7A6}">
      <dsp:nvSpPr>
        <dsp:cNvPr id="0" name=""/>
        <dsp:cNvSpPr/>
      </dsp:nvSpPr>
      <dsp:spPr>
        <a:xfrm>
          <a:off x="1608179" y="3452646"/>
          <a:ext cx="9355476" cy="106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Reduces false positives, minimizes hallucination risks, and ensures robustness with precise and context-aware results.</a:t>
          </a:r>
        </a:p>
      </dsp:txBody>
      <dsp:txXfrm>
        <a:off x="1608179" y="3452646"/>
        <a:ext cx="9355476" cy="1060400"/>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DA9956-8269-4602-9D4B-566873431336}" type="datetimeFigureOut">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946922-A827-4A82-954D-F434E0CD5AE7}" type="slidenum">
              <a:t>‹#›</a:t>
            </a:fld>
            <a:endParaRPr lang="en-US"/>
          </a:p>
        </p:txBody>
      </p:sp>
    </p:spTree>
    <p:extLst>
      <p:ext uri="{BB962C8B-B14F-4D97-AF65-F5344CB8AC3E}">
        <p14:creationId xmlns:p14="http://schemas.microsoft.com/office/powerpoint/2010/main" val="2796513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97B60B91-205B-4827-BFD0-79C9C793BC9F}" type="slidenum">
              <a:t>1</a:t>
            </a:fld>
            <a:endParaRPr lang="en-US"/>
          </a:p>
        </p:txBody>
      </p:sp>
    </p:spTree>
    <p:extLst>
      <p:ext uri="{BB962C8B-B14F-4D97-AF65-F5344CB8AC3E}">
        <p14:creationId xmlns:p14="http://schemas.microsoft.com/office/powerpoint/2010/main" val="3157213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Features of the Intelligent Tool Advisor, Challenges in Accessing Industrial Tools</a:t>
            </a:r>
          </a:p>
        </p:txBody>
      </p:sp>
      <p:sp>
        <p:nvSpPr>
          <p:cNvPr id="4" name="Slide Number Placeholder 3"/>
          <p:cNvSpPr>
            <a:spLocks noGrp="1"/>
          </p:cNvSpPr>
          <p:nvPr>
            <p:ph type="sldNum" sz="quarter" idx="5"/>
          </p:nvPr>
        </p:nvSpPr>
        <p:spPr/>
        <p:txBody>
          <a:bodyPr/>
          <a:lstStyle/>
          <a:p>
            <a:fld id="{97B60B91-205B-4827-BFD0-79C9C793BC9F}" type="slidenum">
              <a:t>2</a:t>
            </a:fld>
            <a:endParaRPr lang="en-US"/>
          </a:p>
        </p:txBody>
      </p:sp>
    </p:spTree>
    <p:extLst>
      <p:ext uri="{BB962C8B-B14F-4D97-AF65-F5344CB8AC3E}">
        <p14:creationId xmlns:p14="http://schemas.microsoft.com/office/powerpoint/2010/main" val="1883422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Intelligent Industrial Tool Advisor integrates a range of advanced AI-driven capabilities to streamline tool selection in complex industrial environments. It functions as a conversational product advisor that leverages hybrid retrieval mechanisms combining both semantic search and metadata filtering, enabling it to interpret technical queries with high accuracy. For instance, when a user searches for an “18V cordless tightening tool with 80 Nm,” the advisor identifies key specifications such as voltage and torque while contextualizing them within the broader tool dataset. The system also incorporates real-time logical decision layers where query parsing precedes retrieval, ensuring that each user input is analyzed for extractable filters and meaningful constraints. A significant strength lies in its ability to maintain stateful multi-turn conversations through session memory, allowing users to refine queries progressively—for example, starting with “nutrunner” and later adding “18V” without losing context. Furthermore, the advisor's structured JSON output delivers consistent and machine-readable responses suitable for downstream automation or integration with enterprise systems. By combining precise metadata-based filtering with flexible semantic understanding, the tool overcomes limitations of static catalogs and reduces dependency on human experts, thereby improving operational efficiency and accelerating product selection workflows.</a:t>
            </a:r>
          </a:p>
        </p:txBody>
      </p:sp>
      <p:sp>
        <p:nvSpPr>
          <p:cNvPr id="4" name="Slide Number Placeholder 3"/>
          <p:cNvSpPr>
            <a:spLocks noGrp="1"/>
          </p:cNvSpPr>
          <p:nvPr>
            <p:ph type="sldNum" sz="quarter" idx="5"/>
          </p:nvPr>
        </p:nvSpPr>
        <p:spPr/>
        <p:txBody>
          <a:bodyPr/>
          <a:lstStyle/>
          <a:p>
            <a:fld id="{97B60B91-205B-4827-BFD0-79C9C793BC9F}" type="slidenum">
              <a:t>3</a:t>
            </a:fld>
            <a:endParaRPr lang="en-US"/>
          </a:p>
        </p:txBody>
      </p:sp>
    </p:spTree>
    <p:extLst>
      <p:ext uri="{BB962C8B-B14F-4D97-AF65-F5344CB8AC3E}">
        <p14:creationId xmlns:p14="http://schemas.microsoft.com/office/powerpoint/2010/main" val="393586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Industrial environments often contain extensive catalogs comprising over a hundred specialized tools, each with technical properties such as voltage, torque thresholds, safety ratings including IP codes, and application-specific parameters. Navigating these catalogs manually—especially when tools are distributed across PDFs, spreadsheets, or siloed internal systems—can be time‑consuming and prone to errors. Sales engineers frequently act as intermediaries, interpreting specifications and recommending appropriate tools based on experience, but this human-dependent process introduces bottlenecks. Moreover, typical search interfaces struggle with ambiguous queries such as “a tightening tool” or “a machine for assembly,” leading users to guess terminology or manually filter through irrelevant items. A common scenario illustrates the complexity: a user searching for “18V cordless tightening tool with 80 Nm” must cross‑reference torque tables, voltage compatibility charts, and model variations, all of which add cognitive load. Static PDFs exacerbate the issue by lacking interactivity, meaning users cannot apply dynamic filters or perform contextual search. These challenges collectively demonstrate the need for an intelligent, AI‑assisted approach that automates interpretation, filtering, and retrieval, while maintaining accuracy and reducing manual effort.</a:t>
            </a:r>
          </a:p>
        </p:txBody>
      </p:sp>
      <p:sp>
        <p:nvSpPr>
          <p:cNvPr id="4" name="Slide Number Placeholder 3"/>
          <p:cNvSpPr>
            <a:spLocks noGrp="1"/>
          </p:cNvSpPr>
          <p:nvPr>
            <p:ph type="sldNum" sz="quarter" idx="5"/>
          </p:nvPr>
        </p:nvSpPr>
        <p:spPr/>
        <p:txBody>
          <a:bodyPr/>
          <a:lstStyle/>
          <a:p>
            <a:fld id="{97B60B91-205B-4827-BFD0-79C9C793BC9F}" type="slidenum">
              <a:t>4</a:t>
            </a:fld>
            <a:endParaRPr lang="en-US"/>
          </a:p>
        </p:txBody>
      </p:sp>
    </p:spTree>
    <p:extLst>
      <p:ext uri="{BB962C8B-B14F-4D97-AF65-F5344CB8AC3E}">
        <p14:creationId xmlns:p14="http://schemas.microsoft.com/office/powerpoint/2010/main" val="1912743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AI-Powered Solution Workflow, Platform Architecture Components</a:t>
            </a:r>
          </a:p>
        </p:txBody>
      </p:sp>
      <p:sp>
        <p:nvSpPr>
          <p:cNvPr id="4" name="Slide Number Placeholder 3"/>
          <p:cNvSpPr>
            <a:spLocks noGrp="1"/>
          </p:cNvSpPr>
          <p:nvPr>
            <p:ph type="sldNum" sz="quarter" idx="5"/>
          </p:nvPr>
        </p:nvSpPr>
        <p:spPr/>
        <p:txBody>
          <a:bodyPr/>
          <a:lstStyle/>
          <a:p>
            <a:fld id="{97B60B91-205B-4827-BFD0-79C9C793BC9F}" type="slidenum">
              <a:t>5</a:t>
            </a:fld>
            <a:endParaRPr lang="en-US"/>
          </a:p>
        </p:txBody>
      </p:sp>
    </p:spTree>
    <p:extLst>
      <p:ext uri="{BB962C8B-B14F-4D97-AF65-F5344CB8AC3E}">
        <p14:creationId xmlns:p14="http://schemas.microsoft.com/office/powerpoint/2010/main" val="4023391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Intelligent Industrial Tool Advisor follows a carefully orchestrated pipeline that ensures every user query is processed with precision and contextual understanding. The flow begins with natural language input from the user, which undergoes query parsing to extract relevant metadata such as torque ranges, battery voltage, tool category, or automation requirements. These extracted filters form the backbone of the hybrid retrieval system, where metadata filtering acts as the first layer of constraint-based narrowing. Once this filter set is applied, the refined subset passes into a semantic search mechanism powered by embeddings indexed within a FAISS vector database, enabling conceptual alignment even when user terminology differs from catalog naming conventions. Before proceeding to final reasoning, a clarification checkpoint evaluates whether the query is too vague or returns overly broad results; if so, the system proactively asks targeted questions, preventing premature LLM involvement and reducing hallucination risk. After ambiguity resolution, the Large Language Model (LLM) consolidates the filtered results, performs reasoning, and generates a structured JSON response that includes tool recommendations, metadata, and optionally images. This tightly controlled architecture ensures explainability, determinism, and accuracy in high‑stakes industrial selection tasks.</a:t>
            </a:r>
          </a:p>
        </p:txBody>
      </p:sp>
      <p:sp>
        <p:nvSpPr>
          <p:cNvPr id="4" name="Slide Number Placeholder 3"/>
          <p:cNvSpPr>
            <a:spLocks noGrp="1"/>
          </p:cNvSpPr>
          <p:nvPr>
            <p:ph type="sldNum" sz="quarter" idx="5"/>
          </p:nvPr>
        </p:nvSpPr>
        <p:spPr/>
        <p:txBody>
          <a:bodyPr/>
          <a:lstStyle/>
          <a:p>
            <a:fld id="{97B60B91-205B-4827-BFD0-79C9C793BC9F}" type="slidenum">
              <a:t>6</a:t>
            </a:fld>
            <a:endParaRPr lang="en-US"/>
          </a:p>
        </p:txBody>
      </p:sp>
    </p:spTree>
    <p:extLst>
      <p:ext uri="{BB962C8B-B14F-4D97-AF65-F5344CB8AC3E}">
        <p14:creationId xmlns:p14="http://schemas.microsoft.com/office/powerpoint/2010/main" val="578968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 architecture integrates multiple components that collectively enable efficient querying, retrieval, and response generation. Streamlit serves as the frontend interface, offering a lightweight and interactive user experience suitable for demonstrations and operator use. FastAPI functions as the backend engine responsible for handling requests, routing data, and interfacing with both the vector database and the LLM modules. CrewAI acts as the agent orchestration framework, coordinating steps such as query parsing, clarification logic, metadata extraction, and final reasoning. The LLM powering inference—OpenAI’s GPT‑4o‑mini—executes controlled reasoning over curated data inputs rather than free‑form generative responses. Tool specifications and media assets are stored in local JSON files and image directories for rapid access and seamless updates. FAISS powers semantic search by indexing embeddings of tool descriptions, enabling similarity-based retrieval across high-dimensional vectors. A session manager maintains context throughout multi-turn conversations by storing extracted filters, previous queries, and conversation history in structured session objects. The architectural principle intentionally positions the LLM as the final step in processing to maximize determinism, accuracy, and safety while minimizing hallucination risks.</a:t>
            </a:r>
          </a:p>
        </p:txBody>
      </p:sp>
      <p:sp>
        <p:nvSpPr>
          <p:cNvPr id="4" name="Slide Number Placeholder 3"/>
          <p:cNvSpPr>
            <a:spLocks noGrp="1"/>
          </p:cNvSpPr>
          <p:nvPr>
            <p:ph type="sldNum" sz="quarter" idx="5"/>
          </p:nvPr>
        </p:nvSpPr>
        <p:spPr/>
        <p:txBody>
          <a:bodyPr/>
          <a:lstStyle/>
          <a:p>
            <a:fld id="{97B60B91-205B-4827-BFD0-79C9C793BC9F}" type="slidenum">
              <a:t>8</a:t>
            </a:fld>
            <a:endParaRPr lang="en-US"/>
          </a:p>
        </p:txBody>
      </p:sp>
    </p:spTree>
    <p:extLst>
      <p:ext uri="{BB962C8B-B14F-4D97-AF65-F5344CB8AC3E}">
        <p14:creationId xmlns:p14="http://schemas.microsoft.com/office/powerpoint/2010/main" val="3571406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Hybrid Retrieval Mechanism, Clarification Loop and Query Disambiguation, Session Memory for Multi-Turn Interaction</a:t>
            </a:r>
          </a:p>
        </p:txBody>
      </p:sp>
      <p:sp>
        <p:nvSpPr>
          <p:cNvPr id="4" name="Slide Number Placeholder 3"/>
          <p:cNvSpPr>
            <a:spLocks noGrp="1"/>
          </p:cNvSpPr>
          <p:nvPr>
            <p:ph type="sldNum" sz="quarter" idx="5"/>
          </p:nvPr>
        </p:nvSpPr>
        <p:spPr/>
        <p:txBody>
          <a:bodyPr/>
          <a:lstStyle/>
          <a:p>
            <a:fld id="{97B60B91-205B-4827-BFD0-79C9C793BC9F}" type="slidenum">
              <a:t>9</a:t>
            </a:fld>
            <a:endParaRPr lang="en-US"/>
          </a:p>
        </p:txBody>
      </p:sp>
    </p:spTree>
    <p:extLst>
      <p:ext uri="{BB962C8B-B14F-4D97-AF65-F5344CB8AC3E}">
        <p14:creationId xmlns:p14="http://schemas.microsoft.com/office/powerpoint/2010/main" val="2146553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Hybrid retrieval is one of the most critical innovations driving the accuracy of the Intelligent Industrial Tool Advisor. Traditional RAG pipelines rely heavily on semantic search, which, while powerful, may fail to match exact industrial specifications, such as identifying tools with precise torque values or voltage levels. Conversely, metadata-only filtering lacks the ability to interpret natural language queries where users may express requirements implicitly or imprecisely. The hybrid approach combines both strengths by first extracting filters from the user's query—such as torque 80 Nm, cordless operation, or 18V power—and applying them to narrow the dataset with deterministic precision. After this filtering, a semantic search runs atop the reduced pool, ranking tools based on contextual alignment with the user’s intent. This dual-layer approach dramatically improves precision by reducing false positives and ensures the semantic model does not overpower factual requirements. Examples show improved selection quality where tools meeting exact torque constraints also align with descriptions like “compact” or “high‑speed tightening.” The system's retrieval design reduces hallucination risk and ensures robustness even in edge cases where catalog terminology differs from user phrasing. Ultimately, hybrid retrieval offers an optimized balance between rule‑based filtering and intelligent semantic understanding.</a:t>
            </a:r>
          </a:p>
        </p:txBody>
      </p:sp>
      <p:sp>
        <p:nvSpPr>
          <p:cNvPr id="4" name="Slide Number Placeholder 3"/>
          <p:cNvSpPr>
            <a:spLocks noGrp="1"/>
          </p:cNvSpPr>
          <p:nvPr>
            <p:ph type="sldNum" sz="quarter" idx="5"/>
          </p:nvPr>
        </p:nvSpPr>
        <p:spPr/>
        <p:txBody>
          <a:bodyPr/>
          <a:lstStyle/>
          <a:p>
            <a:fld id="{97B60B91-205B-4827-BFD0-79C9C793BC9F}" type="slidenum">
              <a:t>10</a:t>
            </a:fld>
            <a:endParaRPr lang="en-US"/>
          </a:p>
        </p:txBody>
      </p:sp>
    </p:spTree>
    <p:extLst>
      <p:ext uri="{BB962C8B-B14F-4D97-AF65-F5344CB8AC3E}">
        <p14:creationId xmlns:p14="http://schemas.microsoft.com/office/powerpoint/2010/main" val="1614925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Clarification Loop transforms the system from a simple search engine into an interactive assistant capable of resolving ambiguity before errors occur. Many user queries—such as “tool,” “machine,” or “nutrunner”—are inherently vague and lack sufficient parameters for deterministic filtering. In traditional RAG systems, such requests often lead to hallucinations because the LLM attempts to infer missing details. The advisor instead performs a clarity check after initial metadata extraction. If no meaningful filters are found or if the filtered set is overly large, the system triggers a clarification question such as “What torque range do you need?” or “Is this for automated or manual operation?” This intervention ensures that the system only proceeds when the request is sufficiently constrained. The logic also integrates seamlessly with multi‑turn conversations; for instance, if the user later adds “18V,” the system merges this detail with prior context rather than treating it as a fresh query. The structured clarification process prevents misalignment, reduces hallucinations, and promotes user engagement by guiding them toward precise problem definition. This technique has shown significant improvement in recommendation accuracy and user satisfaction.</a:t>
            </a:r>
          </a:p>
        </p:txBody>
      </p:sp>
      <p:sp>
        <p:nvSpPr>
          <p:cNvPr id="4" name="Slide Number Placeholder 3"/>
          <p:cNvSpPr>
            <a:spLocks noGrp="1"/>
          </p:cNvSpPr>
          <p:nvPr>
            <p:ph type="sldNum" sz="quarter" idx="5"/>
          </p:nvPr>
        </p:nvSpPr>
        <p:spPr/>
        <p:txBody>
          <a:bodyPr/>
          <a:lstStyle/>
          <a:p>
            <a:fld id="{97B60B91-205B-4827-BFD0-79C9C793BC9F}" type="slidenum">
              <a:t>11</a:t>
            </a:fld>
            <a:endParaRPr lang="en-US"/>
          </a:p>
        </p:txBody>
      </p:sp>
    </p:spTree>
    <p:extLst>
      <p:ext uri="{BB962C8B-B14F-4D97-AF65-F5344CB8AC3E}">
        <p14:creationId xmlns:p14="http://schemas.microsoft.com/office/powerpoint/2010/main" val="4145828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Session memory enables natural, conversational refinement of tool requirements across multiple user interactions. Without memory, each query would be treated independently, causing contextual loss; for example, a user stating “nutrunner” followed by “18V” might confuse a stateless system. The advisor instead maintains session‑level objects containing extracted filters, prior queries, and conversational history. When receiving short refinements, such as adding “cordless,” the system merges these details with existing metadata to progressively narrow down options. Conversely, if the user shifts topics entirely—such as switching from “nutrunner” to “spindle”—the system detects domain change and resets context appropriately to avoid incorrect carryover. This adaptive memory design improves both accuracy and naturalness in human‑AI interaction. It supports industrial workflows where operators typically refine queries gradually rather than specifying all constraints upfront. By storing structured session data instead of free‑form text, the system ensures predictability, reduces noise, and enhances its ability to deliver consistent results even during complex multi-step dialogues.</a:t>
            </a:r>
          </a:p>
        </p:txBody>
      </p:sp>
      <p:sp>
        <p:nvSpPr>
          <p:cNvPr id="4" name="Slide Number Placeholder 3"/>
          <p:cNvSpPr>
            <a:spLocks noGrp="1"/>
          </p:cNvSpPr>
          <p:nvPr>
            <p:ph type="sldNum" sz="quarter" idx="5"/>
          </p:nvPr>
        </p:nvSpPr>
        <p:spPr/>
        <p:txBody>
          <a:bodyPr/>
          <a:lstStyle/>
          <a:p>
            <a:fld id="{97B60B91-205B-4827-BFD0-79C9C793BC9F}" type="slidenum">
              <a:t>12</a:t>
            </a:fld>
            <a:endParaRPr lang="en-US"/>
          </a:p>
        </p:txBody>
      </p:sp>
    </p:spTree>
    <p:extLst>
      <p:ext uri="{BB962C8B-B14F-4D97-AF65-F5344CB8AC3E}">
        <p14:creationId xmlns:p14="http://schemas.microsoft.com/office/powerpoint/2010/main" val="1552892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Lessons Learned from Deployment, Future Enhancements and Roadmap</a:t>
            </a:r>
          </a:p>
        </p:txBody>
      </p:sp>
      <p:sp>
        <p:nvSpPr>
          <p:cNvPr id="4" name="Slide Number Placeholder 3"/>
          <p:cNvSpPr>
            <a:spLocks noGrp="1"/>
          </p:cNvSpPr>
          <p:nvPr>
            <p:ph type="sldNum" sz="quarter" idx="5"/>
          </p:nvPr>
        </p:nvSpPr>
        <p:spPr/>
        <p:txBody>
          <a:bodyPr/>
          <a:lstStyle/>
          <a:p>
            <a:fld id="{97B60B91-205B-4827-BFD0-79C9C793BC9F}" type="slidenum">
              <a:t>13</a:t>
            </a:fld>
            <a:endParaRPr lang="en-US"/>
          </a:p>
        </p:txBody>
      </p:sp>
    </p:spTree>
    <p:extLst>
      <p:ext uri="{BB962C8B-B14F-4D97-AF65-F5344CB8AC3E}">
        <p14:creationId xmlns:p14="http://schemas.microsoft.com/office/powerpoint/2010/main" val="467470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Deployment of the Intelligent Tool Advisor revealed several successful design strategies along with practical challenges. The clarification‑first approach consistently reduced hallucinations and improved user satisfaction by capturing missing constraints early. Hybrid search demonstrated clear advantages over pure semantic or pure metadata search, notably in cases requiring exact specification matching. Deterministic filtering prior to involving the LLM ensured reproducibility and minimized error propagation, making the system more reliable for industrial environments. Dynamic loading of tool data from JSON enabled fast updates without requiring major architectural changes. However, challenges emerged, such as inconsistencies or typos in metadata fields, which affected filter accuracy. Managing when to reset or preserve conversation context required nuanced logic to maintain relevance without creating confusion. Rebuilding the FAISS index after catalog updates introduced operational overhead, particularly for larger datasets. Despite these hurdles, user feedback validated that the architectural emphasis on control, determinism, and clarity aligned well with real-world needs.</a:t>
            </a:r>
          </a:p>
        </p:txBody>
      </p:sp>
      <p:sp>
        <p:nvSpPr>
          <p:cNvPr id="4" name="Slide Number Placeholder 3"/>
          <p:cNvSpPr>
            <a:spLocks noGrp="1"/>
          </p:cNvSpPr>
          <p:nvPr>
            <p:ph type="sldNum" sz="quarter" idx="5"/>
          </p:nvPr>
        </p:nvSpPr>
        <p:spPr/>
        <p:txBody>
          <a:bodyPr/>
          <a:lstStyle/>
          <a:p>
            <a:fld id="{97B60B91-205B-4827-BFD0-79C9C793BC9F}" type="slidenum">
              <a:t>14</a:t>
            </a:fld>
            <a:endParaRPr lang="en-US"/>
          </a:p>
        </p:txBody>
      </p:sp>
    </p:spTree>
    <p:extLst>
      <p:ext uri="{BB962C8B-B14F-4D97-AF65-F5344CB8AC3E}">
        <p14:creationId xmlns:p14="http://schemas.microsoft.com/office/powerpoint/2010/main" val="1024744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future enhancements are planned to expand the system’s capabilities and improve user experience. Tool comparison features will allow users to evaluate multiple candidate tools side‑by‑side across specifications such as torque, weight, voltage, and speed. Price filtering and availability data integration will transform the advisor into a more comprehensive sales and procurement tool. PDF export functionality will support reporting needs by enabling one‑click generation of recommendation summaries. A voice interface would further simplify interaction, especially in hands‑busy environments such as assembly lines. Additional improvements include automated metadata cleaning, incremental FAISS index updates to reduce rebuild time, and deeper integration with enterprise resource planning (ERP) systems. As the system evolves, maintaining the architectural principle that “intelligence comes from structure, not model size” will ensure robustness, scalability, and trustworthiness.</a:t>
            </a:r>
          </a:p>
        </p:txBody>
      </p:sp>
      <p:sp>
        <p:nvSpPr>
          <p:cNvPr id="4" name="Slide Number Placeholder 3"/>
          <p:cNvSpPr>
            <a:spLocks noGrp="1"/>
          </p:cNvSpPr>
          <p:nvPr>
            <p:ph type="sldNum" sz="quarter" idx="5"/>
          </p:nvPr>
        </p:nvSpPr>
        <p:spPr/>
        <p:txBody>
          <a:bodyPr/>
          <a:lstStyle/>
          <a:p>
            <a:fld id="{97B60B91-205B-4827-BFD0-79C9C793BC9F}" type="slidenum">
              <a:t>15</a:t>
            </a:fld>
            <a:endParaRPr lang="en-US"/>
          </a:p>
        </p:txBody>
      </p:sp>
    </p:spTree>
    <p:extLst>
      <p:ext uri="{BB962C8B-B14F-4D97-AF65-F5344CB8AC3E}">
        <p14:creationId xmlns:p14="http://schemas.microsoft.com/office/powerpoint/2010/main" val="7869403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2/25/2026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28950" y="284481"/>
            <a:ext cx="4458249" cy="4320310"/>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428950" y="4870174"/>
            <a:ext cx="3856735" cy="1033669"/>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28950"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01064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201704"/>
            <a:ext cx="11213593" cy="786384"/>
          </a:xfrm>
        </p:spPr>
        <p:txBody>
          <a:bodyPr vert="horz" lIns="91440" tIns="45720" rIns="91440" bIns="45720" rtlCol="0" anchor="b">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71760"/>
            <a:ext cx="11213593"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710AE426-CBD1-49BA-A1DA-945CCEE2ED80}" type="datetimeFigureOut">
              <a:rPr lang="en-US" smtClean="0"/>
              <a:t>2/25/2026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511938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10280809" cy="4572000"/>
          </a:xfrm>
        </p:spPr>
        <p:txBody>
          <a:bodyPr vert="horz" lIns="91440" tIns="45720" rIns="91440" bIns="45720" rtlCol="0" anchor="t">
            <a:normAutofit/>
          </a:bodyPr>
          <a:lstStyle>
            <a:lvl1pPr>
              <a:defRPr lang="en-US" sz="7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1469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9899809" cy="4572000"/>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691048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52600" y="1447800"/>
            <a:ext cx="8686800" cy="2491655"/>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5947171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9684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36034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39179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2/25/2026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09600"/>
            <a:ext cx="6339541"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lstStyle/>
          <a:p>
            <a:fld id="{710AE426-CBD1-49BA-A1DA-945CCEE2ED80}" type="datetimeFigureOut">
              <a:rPr lang="en-US" smtClean="0"/>
              <a:t>2/25/2026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1564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2/25/2026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2/25/2026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23332"/>
            <a:ext cx="4477512" cy="13289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57338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27848" y="425503"/>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29602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27848" y="2315569"/>
            <a:ext cx="3657600"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918704" y="6343955"/>
            <a:ext cx="230005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710AE426-CBD1-49BA-A1DA-945CCEE2ED80}" type="datetimeFigureOut">
              <a:rPr lang="en-US" smtClean="0"/>
              <a:t>2/25/2026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23701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2/25/2026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0B3A8078-5A32-4B09-ABA5-7ABEFD22E08A}"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265092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9892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3014218" cy="2019782"/>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1064" y="1"/>
            <a:ext cx="10734656" cy="326003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680652"/>
            <a:ext cx="7460029" cy="255878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060747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0B3A8078-5A32-4B09-ABA5-7ABEFD22E08A}"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20475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12912"/>
            <a:ext cx="4485564" cy="4613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a:lstStyle/>
          <a:p>
            <a:fld id="{710AE426-CBD1-49BA-A1DA-945CCEE2ED80}" type="datetimeFigureOut">
              <a:rPr lang="en-US" smtClean="0"/>
              <a:t>2/25/2026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a:lstStyle/>
          <a:p>
            <a:fld id="{0B3A8078-5A32-4B09-ABA5-7ABEFD22E08A}" type="slidenum">
              <a:rPr lang="en-US" smtClean="0"/>
              <a:t>‹#›</a:t>
            </a:fld>
            <a:endParaRPr lang="en-US"/>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5659438" y="1712913"/>
            <a:ext cx="6532562" cy="5145087"/>
          </a:xfrm>
          <a:blipFill dpi="0" rotWithShape="1">
            <a:blip r:embed="rId3">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8883885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2/25/2026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0" y="1712913"/>
            <a:ext cx="6532563" cy="5145087"/>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2911"/>
            <a:ext cx="4479145" cy="4617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710AE426-CBD1-49BA-A1DA-945CCEE2ED80}" type="datetimeFigureOut">
              <a:rPr lang="en-US" smtClean="0"/>
              <a:t>2/25/2026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58629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895859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953000"/>
            <a:ext cx="9762068" cy="1236133"/>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87400"/>
            <a:ext cx="10543032" cy="4682067"/>
          </a:xfrm>
        </p:spPr>
        <p:txBody>
          <a:bodyPr anchor="b">
            <a:normAutofit/>
          </a:bodyPr>
          <a:lstStyle>
            <a:lvl1pPr marL="0" indent="0" algn="ctr">
              <a:lnSpc>
                <a:spcPct val="90000"/>
              </a:lnSpc>
              <a:buNone/>
              <a:defRPr sz="335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42587186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accent1">
                    <a:lumMod val="75000"/>
                  </a:schemeClr>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accent1">
                    <a:lumMod val="75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654211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269323"/>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16282"/>
            <a:ext cx="10543032" cy="4206240"/>
          </a:xfrm>
        </p:spPr>
        <p:txBody>
          <a:bodyPr anchor="b">
            <a:normAutofit/>
          </a:bodyPr>
          <a:lstStyle>
            <a:lvl1pPr marL="0" indent="0" algn="ctr">
              <a:lnSpc>
                <a:spcPct val="90000"/>
              </a:lnSpc>
              <a:buNone/>
              <a:defRPr sz="278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6334833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5" y="42335"/>
            <a:ext cx="11517038"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983032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137160"/>
            <a:ext cx="2805405" cy="365125"/>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37160"/>
            <a:ext cx="2202644" cy="365125"/>
          </a:xfrm>
        </p:spPr>
        <p:txBody>
          <a:body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37160"/>
            <a:ext cx="429207" cy="365125"/>
          </a:xfrm>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5" y="755374"/>
            <a:ext cx="10872216" cy="6019229"/>
          </a:xfrm>
        </p:spPr>
        <p:txBody>
          <a:bodyPr anchor="b">
            <a:normAutofit/>
          </a:bodyPr>
          <a:lstStyle>
            <a:lvl1pPr marL="0" indent="0">
              <a:lnSpc>
                <a:spcPct val="90000"/>
              </a:lnSpc>
              <a:buNone/>
              <a:defRPr sz="7200" b="1"/>
            </a:lvl1pPr>
            <a:lvl2pPr marL="228600" indent="0">
              <a:lnSpc>
                <a:spcPct val="90000"/>
              </a:lnSpc>
              <a:buNone/>
              <a:defRPr sz="6600" b="1"/>
            </a:lvl2pPr>
            <a:lvl3pPr marL="457200" indent="0">
              <a:lnSpc>
                <a:spcPct val="90000"/>
              </a:lnSpc>
              <a:buNone/>
              <a:defRPr sz="6000" b="1"/>
            </a:lvl3pPr>
            <a:lvl4pPr marL="685800" indent="0">
              <a:lnSpc>
                <a:spcPct val="90000"/>
              </a:lnSpc>
              <a:buNone/>
              <a:defRPr sz="5400" b="1"/>
            </a:lvl4pPr>
            <a:lvl5pPr marL="914400" indent="0">
              <a:lnSpc>
                <a:spcPct val="90000"/>
              </a:lnSpc>
              <a:buNone/>
              <a:defRPr sz="48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6372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1033272"/>
            <a:ext cx="10972800" cy="4782312"/>
          </a:xfrm>
        </p:spPr>
        <p:txBody>
          <a:bodyPr anchor="ctr">
            <a:noAutofit/>
          </a:bodyPr>
          <a:lstStyle>
            <a:lvl1pPr marL="0" indent="0">
              <a:lnSpc>
                <a:spcPct val="100000"/>
              </a:lnSpc>
              <a:buNone/>
              <a:defRPr sz="8000" b="1">
                <a:solidFill>
                  <a:schemeClr val="accent1">
                    <a:lumMod val="75000"/>
                  </a:schemeClr>
                </a:solidFill>
              </a:defRPr>
            </a:lvl1pPr>
            <a:lvl2pPr marL="228600" indent="0">
              <a:lnSpc>
                <a:spcPct val="100000"/>
              </a:lnSpc>
              <a:buNone/>
              <a:defRPr sz="8000" b="1">
                <a:solidFill>
                  <a:schemeClr val="accent1">
                    <a:lumMod val="75000"/>
                  </a:schemeClr>
                </a:solidFill>
              </a:defRPr>
            </a:lvl2pPr>
            <a:lvl3pPr marL="457200" indent="0">
              <a:lnSpc>
                <a:spcPct val="100000"/>
              </a:lnSpc>
              <a:buNone/>
              <a:defRPr sz="8000" b="1">
                <a:solidFill>
                  <a:schemeClr val="accent1">
                    <a:lumMod val="75000"/>
                  </a:schemeClr>
                </a:solidFill>
              </a:defRPr>
            </a:lvl3pPr>
            <a:lvl4pPr marL="685800" indent="0">
              <a:lnSpc>
                <a:spcPct val="100000"/>
              </a:lnSpc>
              <a:buNone/>
              <a:defRPr sz="8000" b="1">
                <a:solidFill>
                  <a:schemeClr val="accent1">
                    <a:lumMod val="75000"/>
                  </a:schemeClr>
                </a:solidFill>
              </a:defRPr>
            </a:lvl4pPr>
            <a:lvl5pPr marL="914400" indent="0">
              <a:lnSpc>
                <a:spcPct val="100000"/>
              </a:lnSpc>
              <a:buNone/>
              <a:defRPr sz="8000" b="1">
                <a:solidFill>
                  <a:schemeClr val="accent1">
                    <a:lumMod val="75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60968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8" y="45720"/>
            <a:ext cx="10872216" cy="6172200"/>
          </a:xfrm>
        </p:spPr>
        <p:txBody>
          <a:bodyPr vert="horz" lIns="91440" tIns="45720" rIns="91440" bIns="45720" rtlCol="0" anchor="t">
            <a:normAutofit/>
          </a:bodyPr>
          <a:lstStyle>
            <a:lvl1pPr marL="0" indent="0">
              <a:lnSpc>
                <a:spcPct val="90000"/>
              </a:lnSpc>
              <a:buNone/>
              <a:defRPr lang="en-US" sz="7200" b="1" dirty="0"/>
            </a:lvl1pPr>
            <a:lvl2pPr marL="228600" indent="0">
              <a:lnSpc>
                <a:spcPct val="90000"/>
              </a:lnSpc>
              <a:buNone/>
              <a:defRPr lang="en-US" sz="6600" b="1" dirty="0"/>
            </a:lvl2pPr>
            <a:lvl3pPr marL="457200" indent="0">
              <a:lnSpc>
                <a:spcPct val="90000"/>
              </a:lnSpc>
              <a:buNone/>
              <a:defRPr lang="en-US" sz="6000" b="1" dirty="0"/>
            </a:lvl3pPr>
            <a:lvl4pPr marL="685800" indent="0">
              <a:lnSpc>
                <a:spcPct val="90000"/>
              </a:lnSpc>
              <a:buNone/>
              <a:defRPr lang="en-US" sz="5400" b="1" dirty="0"/>
            </a:lvl4pPr>
            <a:lvl5pPr marL="914400" indent="0">
              <a:lnSpc>
                <a:spcPct val="90000"/>
              </a:lnSpc>
              <a:buNone/>
              <a:defRPr lang="en-US" sz="4800" b="1" dirty="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847326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r">
              <a:lnSpc>
                <a:spcPct val="120000"/>
              </a:lnSpc>
              <a:defRPr sz="20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2417107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5372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13232"/>
            <a:ext cx="3595634" cy="162532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62578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13232"/>
            <a:ext cx="3595634" cy="176208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713232"/>
            <a:ext cx="6139637" cy="5458968"/>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848688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2/25/2026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7E8D9-19B9-1D9F-92DB-5D1B29EA049C}"/>
              </a:ext>
            </a:extLst>
          </p:cNvPr>
          <p:cNvSpPr>
            <a:spLocks noGrp="1"/>
          </p:cNvSpPr>
          <p:nvPr>
            <p:ph type="ctrTitle"/>
          </p:nvPr>
        </p:nvSpPr>
        <p:spPr>
          <a:xfrm>
            <a:off x="7846390" y="1411358"/>
            <a:ext cx="3888410" cy="2845567"/>
          </a:xfrm>
        </p:spPr>
        <p:txBody>
          <a:bodyPr anchor="b">
            <a:normAutofit fontScale="90000"/>
          </a:bodyPr>
          <a:lstStyle/>
          <a:p>
            <a:r>
              <a:rPr lang="en-US" dirty="0"/>
              <a:t>Building an Intelligent Industrial Product Configurator</a:t>
            </a:r>
          </a:p>
        </p:txBody>
      </p:sp>
      <p:sp>
        <p:nvSpPr>
          <p:cNvPr id="3" name="Subtitle 2">
            <a:extLst>
              <a:ext uri="{FF2B5EF4-FFF2-40B4-BE49-F238E27FC236}">
                <a16:creationId xmlns:a16="http://schemas.microsoft.com/office/drawing/2014/main" id="{58284D0C-461C-AF6D-72E4-A2A247EBDC2A}"/>
              </a:ext>
            </a:extLst>
          </p:cNvPr>
          <p:cNvSpPr>
            <a:spLocks noGrp="1"/>
          </p:cNvSpPr>
          <p:nvPr>
            <p:ph type="subTitle" idx="1"/>
          </p:nvPr>
        </p:nvSpPr>
        <p:spPr>
          <a:xfrm>
            <a:off x="7846388" y="4403039"/>
            <a:ext cx="3888410" cy="1123122"/>
          </a:xfrm>
        </p:spPr>
        <p:txBody>
          <a:bodyPr>
            <a:normAutofit/>
          </a:bodyPr>
          <a:lstStyle/>
          <a:p>
            <a:r>
              <a:rPr lang="en-US"/>
              <a:t>Enhancing tool selection through advanced technology</a:t>
            </a:r>
          </a:p>
        </p:txBody>
      </p:sp>
      <p:pic>
        <p:nvPicPr>
          <p:cNvPr id="4" name="Picture 3" descr="Biomedical engineering robot in a lab">
            <a:extLst>
              <a:ext uri="{FF2B5EF4-FFF2-40B4-BE49-F238E27FC236}">
                <a16:creationId xmlns:a16="http://schemas.microsoft.com/office/drawing/2014/main" id="{FBCDD264-8771-453C-9A22-6EE809063D15}"/>
              </a:ext>
            </a:extLst>
          </p:cNvPr>
          <p:cNvPicPr>
            <a:picLocks noChangeAspect="1"/>
          </p:cNvPicPr>
          <p:nvPr/>
        </p:nvPicPr>
        <p:blipFill>
          <a:blip r:embed="rId3"/>
          <a:srcRect l="3778" r="23959" b="-1"/>
          <a:stretch>
            <a:fillRect/>
          </a:stretch>
        </p:blipFill>
        <p:spPr>
          <a:xfrm>
            <a:off x="1" y="10"/>
            <a:ext cx="7424272" cy="685799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p:spPr>
      </p:pic>
    </p:spTree>
    <p:extLst>
      <p:ext uri="{BB962C8B-B14F-4D97-AF65-F5344CB8AC3E}">
        <p14:creationId xmlns:p14="http://schemas.microsoft.com/office/powerpoint/2010/main" val="1283686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93D45-74B2-1E2B-AB78-A5ED2444772F}"/>
              </a:ext>
            </a:extLst>
          </p:cNvPr>
          <p:cNvSpPr>
            <a:spLocks noGrp="1"/>
          </p:cNvSpPr>
          <p:nvPr>
            <p:ph type="title"/>
          </p:nvPr>
        </p:nvSpPr>
        <p:spPr>
          <a:xfrm>
            <a:off x="111758" y="1869103"/>
            <a:ext cx="9337042" cy="4906929"/>
          </a:xfrm>
        </p:spPr>
        <p:txBody>
          <a:bodyPr anchor="b">
            <a:normAutofit/>
          </a:bodyPr>
          <a:lstStyle/>
          <a:p>
            <a:r>
              <a:rPr lang="en-US"/>
              <a:t>Industrial Tool Advisor Overview</a:t>
            </a:r>
          </a:p>
        </p:txBody>
      </p:sp>
    </p:spTree>
    <p:extLst>
      <p:ext uri="{BB962C8B-B14F-4D97-AF65-F5344CB8AC3E}">
        <p14:creationId xmlns:p14="http://schemas.microsoft.com/office/powerpoint/2010/main" val="14428145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9567-C3E6-0431-38EB-827A923D637E}"/>
              </a:ext>
            </a:extLst>
          </p:cNvPr>
          <p:cNvSpPr>
            <a:spLocks noGrp="1"/>
          </p:cNvSpPr>
          <p:nvPr>
            <p:ph type="title"/>
          </p:nvPr>
        </p:nvSpPr>
        <p:spPr>
          <a:xfrm>
            <a:off x="612648" y="706802"/>
            <a:ext cx="4672584" cy="1269482"/>
          </a:xfrm>
        </p:spPr>
        <p:txBody>
          <a:bodyPr anchor="t">
            <a:normAutofit/>
          </a:bodyPr>
          <a:lstStyle/>
          <a:p>
            <a:r>
              <a:rPr lang="en-US"/>
              <a:t>Core Features of the Intelligent Tool Advisor</a:t>
            </a:r>
          </a:p>
        </p:txBody>
      </p:sp>
      <p:pic>
        <p:nvPicPr>
          <p:cNvPr id="5" name="Content Placeholder 4" descr="Robotic Vacuum Cleaner, Vacuum Cleaner, Robot, Engineering, Repairing">
            <a:extLst>
              <a:ext uri="{FF2B5EF4-FFF2-40B4-BE49-F238E27FC236}">
                <a16:creationId xmlns:a16="http://schemas.microsoft.com/office/drawing/2014/main" id="{23A66E54-B806-4ACC-8281-FD39D552A9DC}"/>
              </a:ext>
            </a:extLst>
          </p:cNvPr>
          <p:cNvPicPr>
            <a:picLocks noGrp="1" noChangeAspect="1"/>
          </p:cNvPicPr>
          <p:nvPr>
            <p:ph type="pic" sz="quarter" idx="13"/>
          </p:nvPr>
        </p:nvPicPr>
        <p:blipFill>
          <a:blip r:embed="rId3"/>
          <a:srcRect l="30361" r="4858" b="-2"/>
          <a:stretch>
            <a:fillRect/>
          </a:stretch>
        </p:blipFill>
        <p:spPr>
          <a:xfrm>
            <a:off x="720468" y="2173850"/>
            <a:ext cx="4564763" cy="3963682"/>
          </a:xfrm>
        </p:spPr>
      </p:pic>
      <p:sp>
        <p:nvSpPr>
          <p:cNvPr id="4" name="Content Placeholder 3">
            <a:extLst>
              <a:ext uri="{FF2B5EF4-FFF2-40B4-BE49-F238E27FC236}">
                <a16:creationId xmlns:a16="http://schemas.microsoft.com/office/drawing/2014/main" id="{5C266F23-E252-8A22-D4F2-4D4FB5057D4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Hybrid Retrieval Mechanism</a:t>
            </a:r>
          </a:p>
          <a:p>
            <a:pPr marL="0" lvl="1" indent="0">
              <a:buFont typeface="Arial" panose="020B0604020202020204" pitchFamily="34" charset="0"/>
              <a:buNone/>
            </a:pPr>
            <a:r>
              <a:t>Combines semantic search with metadata filtering to accurately interpret complex technical queries in tool selection.</a:t>
            </a:r>
            <a:endParaRPr lang="en-US"/>
          </a:p>
          <a:p>
            <a:pPr marL="0" indent="0">
              <a:spcBef>
                <a:spcPts val="2500"/>
              </a:spcBef>
              <a:buFont typeface="Arial" panose="020B0604020202020204" pitchFamily="34" charset="0"/>
              <a:buNone/>
            </a:pPr>
            <a:r>
              <a:rPr lang="en-US" b="1"/>
              <a:t>Real-Time Logical Decision Layers</a:t>
            </a:r>
          </a:p>
          <a:p>
            <a:pPr marL="0" lvl="1" indent="0">
              <a:buFont typeface="Arial" panose="020B0604020202020204" pitchFamily="34" charset="0"/>
              <a:buNone/>
            </a:pPr>
            <a:r>
              <a:t>Parses user queries before retrieval to extract filters and constraints, ensuring precise and relevant results.</a:t>
            </a:r>
            <a:endParaRPr lang="en-US"/>
          </a:p>
          <a:p>
            <a:pPr marL="0" indent="0">
              <a:spcBef>
                <a:spcPts val="2500"/>
              </a:spcBef>
              <a:buFont typeface="Arial" panose="020B0604020202020204" pitchFamily="34" charset="0"/>
              <a:buNone/>
            </a:pPr>
            <a:r>
              <a:rPr lang="en-US" b="1"/>
              <a:t>Stateful Multi-Turn Conversations</a:t>
            </a:r>
          </a:p>
          <a:p>
            <a:pPr marL="0" lvl="1" indent="0">
              <a:buFont typeface="Arial" panose="020B0604020202020204" pitchFamily="34" charset="0"/>
              <a:buNone/>
            </a:pPr>
            <a:r>
              <a:t>Maintains session memory to enable users to refine queries progressively without losing context.</a:t>
            </a:r>
            <a:endParaRPr lang="en-US"/>
          </a:p>
          <a:p>
            <a:pPr marL="0" indent="0">
              <a:spcBef>
                <a:spcPts val="2500"/>
              </a:spcBef>
              <a:buFont typeface="Arial" panose="020B0604020202020204" pitchFamily="34" charset="0"/>
              <a:buNone/>
            </a:pPr>
            <a:r>
              <a:rPr lang="en-US" b="1"/>
              <a:t>Structured Machine-Readable Output</a:t>
            </a:r>
          </a:p>
          <a:p>
            <a:pPr marL="0" lvl="1" indent="0">
              <a:buFont typeface="Arial" panose="020B0604020202020204" pitchFamily="34" charset="0"/>
              <a:buNone/>
            </a:pPr>
            <a:r>
              <a:t>Delivers consistent JSON responses for seamless integration with automation and enterprise systems.</a:t>
            </a:r>
            <a:endParaRPr lang="en-US"/>
          </a:p>
        </p:txBody>
      </p:sp>
    </p:spTree>
    <p:extLst>
      <p:ext uri="{BB962C8B-B14F-4D97-AF65-F5344CB8AC3E}">
        <p14:creationId xmlns:p14="http://schemas.microsoft.com/office/powerpoint/2010/main" val="29970205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9A453-1A88-78B4-0447-A45F1D01DD09}"/>
              </a:ext>
            </a:extLst>
          </p:cNvPr>
          <p:cNvSpPr>
            <a:spLocks noGrp="1"/>
          </p:cNvSpPr>
          <p:nvPr>
            <p:ph type="title"/>
          </p:nvPr>
        </p:nvSpPr>
        <p:spPr>
          <a:xfrm>
            <a:off x="612647" y="475488"/>
            <a:ext cx="6858000" cy="932688"/>
          </a:xfrm>
        </p:spPr>
        <p:txBody>
          <a:bodyPr anchor="b">
            <a:normAutofit/>
          </a:bodyPr>
          <a:lstStyle/>
          <a:p>
            <a:r>
              <a:rPr lang="en-US"/>
              <a:t>Challenges in Accessing Industrial Tools</a:t>
            </a:r>
          </a:p>
        </p:txBody>
      </p:sp>
      <p:sp>
        <p:nvSpPr>
          <p:cNvPr id="4" name="Content Placeholder 3">
            <a:extLst>
              <a:ext uri="{FF2B5EF4-FFF2-40B4-BE49-F238E27FC236}">
                <a16:creationId xmlns:a16="http://schemas.microsoft.com/office/drawing/2014/main" id="{74795401-7AF8-8AA0-42A6-3D1BD7DF77A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b="1"/>
              <a:t>Complex Tool Catalogs</a:t>
            </a:r>
          </a:p>
          <a:p>
            <a:pPr marL="0" lvl="1" indent="0">
              <a:buFont typeface="Arial" panose="020B0604020202020204" pitchFamily="34" charset="0"/>
              <a:buNone/>
            </a:pPr>
            <a:r>
              <a:t>Industrial tool catalogs contain hundreds of specialized tools with varied technical specifications requiring careful navigation.</a:t>
            </a:r>
            <a:endParaRPr lang="en-US"/>
          </a:p>
          <a:p>
            <a:pPr marL="0" indent="0">
              <a:spcBef>
                <a:spcPts val="2500"/>
              </a:spcBef>
              <a:buFont typeface="Arial" panose="020B0604020202020204" pitchFamily="34" charset="0"/>
              <a:buNone/>
            </a:pPr>
            <a:r>
              <a:rPr lang="en-US" b="1"/>
              <a:t>Manual Search Challenges</a:t>
            </a:r>
          </a:p>
          <a:p>
            <a:pPr marL="0" lvl="1" indent="0">
              <a:buFont typeface="Arial" panose="020B0604020202020204" pitchFamily="34" charset="0"/>
              <a:buNone/>
            </a:pPr>
            <a:r>
              <a:t>Manual searching through multiple formats like PDFs and spreadsheets is time-consuming and error-prone.</a:t>
            </a:r>
            <a:endParaRPr lang="en-US"/>
          </a:p>
          <a:p>
            <a:pPr marL="0" indent="0">
              <a:spcBef>
                <a:spcPts val="2500"/>
              </a:spcBef>
              <a:buFont typeface="Arial" panose="020B0604020202020204" pitchFamily="34" charset="0"/>
              <a:buNone/>
            </a:pPr>
            <a:r>
              <a:rPr lang="en-US" b="1"/>
              <a:t>Ambiguous Queries</a:t>
            </a:r>
          </a:p>
          <a:p>
            <a:pPr marL="0" lvl="1" indent="0">
              <a:buFont typeface="Arial" panose="020B0604020202020204" pitchFamily="34" charset="0"/>
              <a:buNone/>
            </a:pPr>
            <a:r>
              <a:t>Ambiguous search queries often lead to guesswork and irrelevant results due to poor search interfaces.</a:t>
            </a:r>
            <a:endParaRPr lang="en-US"/>
          </a:p>
          <a:p>
            <a:pPr marL="0" indent="0">
              <a:spcBef>
                <a:spcPts val="2500"/>
              </a:spcBef>
              <a:buFont typeface="Arial" panose="020B0604020202020204" pitchFamily="34" charset="0"/>
              <a:buNone/>
            </a:pPr>
            <a:r>
              <a:rPr lang="en-US" b="1"/>
              <a:t>Need for AI Assistance</a:t>
            </a:r>
          </a:p>
          <a:p>
            <a:pPr marL="0" lvl="1" indent="0">
              <a:buFont typeface="Arial" panose="020B0604020202020204" pitchFamily="34" charset="0"/>
              <a:buNone/>
            </a:pPr>
            <a:r>
              <a:t>An AI-assisted system can automate tool interpretation and filtering, improving accuracy and reducing effort.</a:t>
            </a:r>
            <a:endParaRPr lang="en-US"/>
          </a:p>
        </p:txBody>
      </p:sp>
      <p:pic>
        <p:nvPicPr>
          <p:cNvPr id="5" name="Content Placeholder 4" descr="fourth industrial revolution technology concept">
            <a:extLst>
              <a:ext uri="{FF2B5EF4-FFF2-40B4-BE49-F238E27FC236}">
                <a16:creationId xmlns:a16="http://schemas.microsoft.com/office/drawing/2014/main" id="{EBACDED8-7CCE-48A5-B935-FB75A479C549}"/>
              </a:ext>
            </a:extLst>
          </p:cNvPr>
          <p:cNvPicPr>
            <a:picLocks noGrp="1" noChangeAspect="1"/>
          </p:cNvPicPr>
          <p:nvPr>
            <p:ph type="pic" sz="quarter" idx="13"/>
          </p:nvPr>
        </p:nvPicPr>
        <p:blipFill>
          <a:blip r:embed="rId3"/>
          <a:srcRect l="32993" r="33376"/>
          <a:stretch>
            <a:fillRect/>
          </a:stretch>
        </p:blipFill>
        <p:spPr>
          <a:xfrm>
            <a:off x="8091732" y="10"/>
            <a:ext cx="4100267" cy="6857990"/>
          </a:xfrm>
        </p:spPr>
      </p:pic>
    </p:spTree>
    <p:extLst>
      <p:ext uri="{BB962C8B-B14F-4D97-AF65-F5344CB8AC3E}">
        <p14:creationId xmlns:p14="http://schemas.microsoft.com/office/powerpoint/2010/main" val="39910149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3FD5E-6BC6-DD1E-C3BC-A0F6AD992A00}"/>
              </a:ext>
            </a:extLst>
          </p:cNvPr>
          <p:cNvSpPr>
            <a:spLocks noGrp="1"/>
          </p:cNvSpPr>
          <p:nvPr>
            <p:ph type="title"/>
          </p:nvPr>
        </p:nvSpPr>
        <p:spPr>
          <a:xfrm>
            <a:off x="111758" y="1869103"/>
            <a:ext cx="9337042" cy="4906929"/>
          </a:xfrm>
        </p:spPr>
        <p:txBody>
          <a:bodyPr anchor="b">
            <a:normAutofit/>
          </a:bodyPr>
          <a:lstStyle/>
          <a:p>
            <a:r>
              <a:rPr lang="en-US"/>
              <a:t>Solution and Architecture</a:t>
            </a:r>
          </a:p>
        </p:txBody>
      </p:sp>
    </p:spTree>
    <p:extLst>
      <p:ext uri="{BB962C8B-B14F-4D97-AF65-F5344CB8AC3E}">
        <p14:creationId xmlns:p14="http://schemas.microsoft.com/office/powerpoint/2010/main" val="3514171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01AF9-C46C-80CB-802F-761BBB0C660E}"/>
              </a:ext>
            </a:extLst>
          </p:cNvPr>
          <p:cNvSpPr>
            <a:spLocks noGrp="1"/>
          </p:cNvSpPr>
          <p:nvPr>
            <p:ph type="title"/>
          </p:nvPr>
        </p:nvSpPr>
        <p:spPr>
          <a:xfrm>
            <a:off x="612647" y="475488"/>
            <a:ext cx="6858000" cy="932688"/>
          </a:xfrm>
        </p:spPr>
        <p:txBody>
          <a:bodyPr anchor="b">
            <a:normAutofit/>
          </a:bodyPr>
          <a:lstStyle/>
          <a:p>
            <a:r>
              <a:rPr lang="en-US"/>
              <a:t>AI-Powered Solution Workflow</a:t>
            </a:r>
          </a:p>
        </p:txBody>
      </p:sp>
      <p:sp>
        <p:nvSpPr>
          <p:cNvPr id="4" name="Content Placeholder 3">
            <a:extLst>
              <a:ext uri="{FF2B5EF4-FFF2-40B4-BE49-F238E27FC236}">
                <a16:creationId xmlns:a16="http://schemas.microsoft.com/office/drawing/2014/main" id="{715D11DC-84CC-2CAA-5134-4C943FBC317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b="1"/>
              <a:t>Natural Language Query Parsing</a:t>
            </a:r>
          </a:p>
          <a:p>
            <a:pPr marL="0" lvl="1" indent="0">
              <a:buFont typeface="Arial" panose="020B0604020202020204" pitchFamily="34" charset="0"/>
              <a:buNone/>
            </a:pPr>
            <a:r>
              <a:t>User input is parsed to extract key metadata like torque, voltage, and tool categories for precise processing.</a:t>
            </a:r>
            <a:endParaRPr lang="en-US"/>
          </a:p>
          <a:p>
            <a:pPr marL="0" indent="0">
              <a:spcBef>
                <a:spcPts val="2500"/>
              </a:spcBef>
              <a:buFont typeface="Arial" panose="020B0604020202020204" pitchFamily="34" charset="0"/>
              <a:buNone/>
            </a:pPr>
            <a:r>
              <a:rPr lang="en-US" b="1"/>
              <a:t>Hybrid Retrieval System</a:t>
            </a:r>
          </a:p>
          <a:p>
            <a:pPr marL="0" lvl="1" indent="0">
              <a:buFont typeface="Arial" panose="020B0604020202020204" pitchFamily="34" charset="0"/>
              <a:buNone/>
            </a:pPr>
            <a:r>
              <a:t>Metadata filtering narrows down results before semantic search aligns concepts using vector embeddings.</a:t>
            </a:r>
            <a:endParaRPr lang="en-US"/>
          </a:p>
          <a:p>
            <a:pPr marL="0" indent="0">
              <a:spcBef>
                <a:spcPts val="2500"/>
              </a:spcBef>
              <a:buFont typeface="Arial" panose="020B0604020202020204" pitchFamily="34" charset="0"/>
              <a:buNone/>
            </a:pPr>
            <a:r>
              <a:rPr lang="en-US" b="1"/>
              <a:t>Clarification Checkpoint</a:t>
            </a:r>
          </a:p>
          <a:p>
            <a:pPr marL="0" lvl="1" indent="0">
              <a:buFont typeface="Arial" panose="020B0604020202020204" pitchFamily="34" charset="0"/>
              <a:buNone/>
            </a:pPr>
            <a:r>
              <a:t>System detects vague queries and prompts users with targeted questions to reduce ambiguity and errors.</a:t>
            </a:r>
            <a:endParaRPr lang="en-US"/>
          </a:p>
          <a:p>
            <a:pPr marL="0" indent="0">
              <a:spcBef>
                <a:spcPts val="2500"/>
              </a:spcBef>
              <a:buFont typeface="Arial" panose="020B0604020202020204" pitchFamily="34" charset="0"/>
              <a:buNone/>
            </a:pPr>
            <a:r>
              <a:rPr lang="en-US" b="1"/>
              <a:t>AI Reasoning and Response Generation</a:t>
            </a:r>
          </a:p>
          <a:p>
            <a:pPr marL="0" lvl="1" indent="0">
              <a:buFont typeface="Arial" panose="020B0604020202020204" pitchFamily="34" charset="0"/>
              <a:buNone/>
            </a:pPr>
            <a:r>
              <a:t>LLM consolidates filtered data, reasons, and generates structured JSON including tool recommendations.</a:t>
            </a:r>
            <a:endParaRPr lang="en-US"/>
          </a:p>
        </p:txBody>
      </p:sp>
      <p:pic>
        <p:nvPicPr>
          <p:cNvPr id="5" name="Content Placeholder 4" descr="AI Artificial intelligence abstract neural network future technology internet of things big data">
            <a:extLst>
              <a:ext uri="{FF2B5EF4-FFF2-40B4-BE49-F238E27FC236}">
                <a16:creationId xmlns:a16="http://schemas.microsoft.com/office/drawing/2014/main" id="{45A674A9-D4E9-4503-85DD-356F501974CD}"/>
              </a:ext>
            </a:extLst>
          </p:cNvPr>
          <p:cNvPicPr>
            <a:picLocks noGrp="1" noChangeAspect="1"/>
          </p:cNvPicPr>
          <p:nvPr>
            <p:ph type="pic" sz="quarter" idx="13"/>
          </p:nvPr>
        </p:nvPicPr>
        <p:blipFill>
          <a:blip r:embed="rId3"/>
          <a:srcRect l="27107" r="28052"/>
          <a:stretch>
            <a:fillRect/>
          </a:stretch>
        </p:blipFill>
        <p:spPr>
          <a:xfrm>
            <a:off x="8091732" y="10"/>
            <a:ext cx="4100267" cy="6857990"/>
          </a:xfrm>
        </p:spPr>
      </p:pic>
    </p:spTree>
    <p:extLst>
      <p:ext uri="{BB962C8B-B14F-4D97-AF65-F5344CB8AC3E}">
        <p14:creationId xmlns:p14="http://schemas.microsoft.com/office/powerpoint/2010/main" val="2376961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605AC-E3B3-4C4B-6672-E0F566CC1378}"/>
              </a:ext>
            </a:extLst>
          </p:cNvPr>
          <p:cNvSpPr>
            <a:spLocks noGrp="1"/>
          </p:cNvSpPr>
          <p:nvPr>
            <p:ph type="title"/>
          </p:nvPr>
        </p:nvSpPr>
        <p:spPr>
          <a:xfrm>
            <a:off x="612647" y="475488"/>
            <a:ext cx="10664824" cy="932688"/>
          </a:xfrm>
        </p:spPr>
        <p:txBody>
          <a:bodyPr>
            <a:normAutofit/>
          </a:bodyPr>
          <a:lstStyle/>
          <a:p>
            <a:pPr algn="ctr"/>
            <a:r>
              <a:rPr lang="en-US" sz="4000" u="sng" dirty="0"/>
              <a:t>Sequence Diagram</a:t>
            </a:r>
          </a:p>
        </p:txBody>
      </p:sp>
      <p:pic>
        <p:nvPicPr>
          <p:cNvPr id="6" name="Content Placeholder 5">
            <a:extLst>
              <a:ext uri="{FF2B5EF4-FFF2-40B4-BE49-F238E27FC236}">
                <a16:creationId xmlns:a16="http://schemas.microsoft.com/office/drawing/2014/main" id="{EC95AC6B-0758-6E4B-B75E-091F04AD01F4}"/>
              </a:ext>
            </a:extLst>
          </p:cNvPr>
          <p:cNvPicPr>
            <a:picLocks noGrp="1" noChangeAspect="1"/>
          </p:cNvPicPr>
          <p:nvPr>
            <p:ph sz="quarter" idx="14"/>
          </p:nvPr>
        </p:nvPicPr>
        <p:blipFill>
          <a:blip r:embed="rId2"/>
          <a:stretch>
            <a:fillRect/>
          </a:stretch>
        </p:blipFill>
        <p:spPr>
          <a:xfrm>
            <a:off x="612774" y="1945108"/>
            <a:ext cx="10664825" cy="3899647"/>
          </a:xfrm>
        </p:spPr>
      </p:pic>
    </p:spTree>
    <p:extLst>
      <p:ext uri="{BB962C8B-B14F-4D97-AF65-F5344CB8AC3E}">
        <p14:creationId xmlns:p14="http://schemas.microsoft.com/office/powerpoint/2010/main" val="404286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36162-4D29-E6BD-7469-90D4330FEE77}"/>
              </a:ext>
            </a:extLst>
          </p:cNvPr>
          <p:cNvSpPr>
            <a:spLocks noGrp="1"/>
          </p:cNvSpPr>
          <p:nvPr>
            <p:ph type="title"/>
          </p:nvPr>
        </p:nvSpPr>
        <p:spPr>
          <a:xfrm>
            <a:off x="4632168" y="474177"/>
            <a:ext cx="6950232" cy="932688"/>
          </a:xfrm>
        </p:spPr>
        <p:txBody>
          <a:bodyPr anchor="b">
            <a:normAutofit/>
          </a:bodyPr>
          <a:lstStyle/>
          <a:p>
            <a:r>
              <a:rPr lang="en-US"/>
              <a:t>Platform Architecture Components</a:t>
            </a:r>
          </a:p>
        </p:txBody>
      </p:sp>
      <p:pic>
        <p:nvPicPr>
          <p:cNvPr id="5" name="Content Placeholder 4" descr="4K Resolution">
            <a:extLst>
              <a:ext uri="{FF2B5EF4-FFF2-40B4-BE49-F238E27FC236}">
                <a16:creationId xmlns:a16="http://schemas.microsoft.com/office/drawing/2014/main" id="{16E62C59-ECC2-4AC6-982C-8519249AD60B}"/>
              </a:ext>
            </a:extLst>
          </p:cNvPr>
          <p:cNvPicPr>
            <a:picLocks noGrp="1" noChangeAspect="1"/>
          </p:cNvPicPr>
          <p:nvPr>
            <p:ph type="pic" sz="quarter" idx="13"/>
          </p:nvPr>
        </p:nvPicPr>
        <p:blipFill>
          <a:blip r:embed="rId3"/>
          <a:srcRect l="34069" r="32931"/>
          <a:stretch>
            <a:fillRect/>
          </a:stretch>
        </p:blipFill>
        <p:spPr>
          <a:xfrm>
            <a:off x="20" y="1"/>
            <a:ext cx="4023340" cy="6858000"/>
          </a:xfrm>
        </p:spPr>
      </p:pic>
      <p:sp>
        <p:nvSpPr>
          <p:cNvPr id="4" name="Content Placeholder 3">
            <a:extLst>
              <a:ext uri="{FF2B5EF4-FFF2-40B4-BE49-F238E27FC236}">
                <a16:creationId xmlns:a16="http://schemas.microsoft.com/office/drawing/2014/main" id="{14A63482-8739-9B42-D5E5-60471A309FA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1627632"/>
            <a:ext cx="6950232" cy="4686224"/>
          </a:xfrm>
        </p:spPr>
        <p:txBody>
          <a:bodyPr>
            <a:normAutofit/>
          </a:bodyPr>
          <a:lstStyle/>
          <a:p>
            <a:pPr marL="0" indent="0">
              <a:spcBef>
                <a:spcPts val="2500"/>
              </a:spcBef>
              <a:buFont typeface="Arial" panose="020B0604020202020204" pitchFamily="34" charset="0"/>
              <a:buNone/>
            </a:pPr>
            <a:r>
              <a:rPr lang="en-US" b="1"/>
              <a:t>Frontend Interface</a:t>
            </a:r>
          </a:p>
          <a:p>
            <a:pPr marL="0" lvl="1" indent="0">
              <a:buFont typeface="Arial" panose="020B0604020202020204" pitchFamily="34" charset="0"/>
              <a:buNone/>
            </a:pPr>
            <a:r>
              <a:t>Streamlit offers a lightweight, interactive interface ideal for demonstrations and operator use.</a:t>
            </a:r>
            <a:endParaRPr lang="en-US"/>
          </a:p>
          <a:p>
            <a:pPr marL="0" indent="0">
              <a:spcBef>
                <a:spcPts val="2500"/>
              </a:spcBef>
              <a:buFont typeface="Arial" panose="020B0604020202020204" pitchFamily="34" charset="0"/>
              <a:buNone/>
            </a:pPr>
            <a:r>
              <a:rPr lang="en-US" b="1"/>
              <a:t>Backend Engine</a:t>
            </a:r>
          </a:p>
          <a:p>
            <a:pPr marL="0" lvl="1" indent="0">
              <a:buFont typeface="Arial" panose="020B0604020202020204" pitchFamily="34" charset="0"/>
              <a:buNone/>
            </a:pPr>
            <a:r>
              <a:t>FastAPI handles requests, routes data, and interfaces with vector databases and AI modules efficiently.</a:t>
            </a:r>
            <a:endParaRPr lang="en-US"/>
          </a:p>
          <a:p>
            <a:pPr marL="0" indent="0">
              <a:spcBef>
                <a:spcPts val="2500"/>
              </a:spcBef>
              <a:buFont typeface="Arial" panose="020B0604020202020204" pitchFamily="34" charset="0"/>
              <a:buNone/>
            </a:pPr>
            <a:r>
              <a:rPr lang="en-US" b="1"/>
              <a:t>Agent Orchestration Framework</a:t>
            </a:r>
          </a:p>
          <a:p>
            <a:pPr marL="0" lvl="1" indent="0">
              <a:buFont typeface="Arial" panose="020B0604020202020204" pitchFamily="34" charset="0"/>
              <a:buNone/>
            </a:pPr>
            <a:r>
              <a:t>CrewAI coordinates query parsing, clarification, metadata extraction, and reasoning tasks systematically.</a:t>
            </a:r>
            <a:endParaRPr lang="en-US"/>
          </a:p>
          <a:p>
            <a:pPr marL="0" indent="0">
              <a:spcBef>
                <a:spcPts val="2500"/>
              </a:spcBef>
              <a:buFont typeface="Arial" panose="020B0604020202020204" pitchFamily="34" charset="0"/>
              <a:buNone/>
            </a:pPr>
            <a:r>
              <a:rPr lang="en-US" b="1"/>
              <a:t>Semantic Search and Session Management</a:t>
            </a:r>
          </a:p>
          <a:p>
            <a:pPr marL="0" lvl="1" indent="0">
              <a:buFont typeface="Arial" panose="020B0604020202020204" pitchFamily="34" charset="0"/>
              <a:buNone/>
            </a:pPr>
            <a:r>
              <a:t>FAISS enables semantic search with vector indexing; a session manager maintains multi-turn conversation context.</a:t>
            </a:r>
            <a:endParaRPr lang="en-US"/>
          </a:p>
        </p:txBody>
      </p:sp>
    </p:spTree>
    <p:extLst>
      <p:ext uri="{BB962C8B-B14F-4D97-AF65-F5344CB8AC3E}">
        <p14:creationId xmlns:p14="http://schemas.microsoft.com/office/powerpoint/2010/main" val="1035300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977C4-C0D9-8676-AE8D-51AF51064C7A}"/>
              </a:ext>
            </a:extLst>
          </p:cNvPr>
          <p:cNvSpPr>
            <a:spLocks noGrp="1"/>
          </p:cNvSpPr>
          <p:nvPr>
            <p:ph type="title"/>
          </p:nvPr>
        </p:nvSpPr>
        <p:spPr>
          <a:xfrm>
            <a:off x="111758" y="1869103"/>
            <a:ext cx="9337042" cy="4906929"/>
          </a:xfrm>
        </p:spPr>
        <p:txBody>
          <a:bodyPr anchor="b">
            <a:normAutofit/>
          </a:bodyPr>
          <a:lstStyle/>
          <a:p>
            <a:r>
              <a:rPr lang="en-US"/>
              <a:t>Innovations and Enhancements</a:t>
            </a:r>
          </a:p>
        </p:txBody>
      </p:sp>
    </p:spTree>
    <p:extLst>
      <p:ext uri="{BB962C8B-B14F-4D97-AF65-F5344CB8AC3E}">
        <p14:creationId xmlns:p14="http://schemas.microsoft.com/office/powerpoint/2010/main" val="37281238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B7FA8-2158-434B-4FA5-0DF967E556B3}"/>
              </a:ext>
            </a:extLst>
          </p:cNvPr>
          <p:cNvSpPr>
            <a:spLocks noGrp="1"/>
          </p:cNvSpPr>
          <p:nvPr>
            <p:ph type="title"/>
          </p:nvPr>
        </p:nvSpPr>
        <p:spPr>
          <a:xfrm>
            <a:off x="612648" y="514649"/>
            <a:ext cx="10963655" cy="972373"/>
          </a:xfrm>
        </p:spPr>
        <p:txBody>
          <a:bodyPr anchor="b">
            <a:normAutofit/>
          </a:bodyPr>
          <a:lstStyle/>
          <a:p>
            <a:r>
              <a:rPr lang="en-US"/>
              <a:t>Hybrid Retrieval Mechanism</a:t>
            </a:r>
          </a:p>
        </p:txBody>
      </p:sp>
      <p:graphicFrame>
        <p:nvGraphicFramePr>
          <p:cNvPr id="4" name="Content Placeholder 3">
            <a:extLst>
              <a:ext uri="{FF2B5EF4-FFF2-40B4-BE49-F238E27FC236}">
                <a16:creationId xmlns:a16="http://schemas.microsoft.com/office/drawing/2014/main" id="{59625792-0553-4384-844E-D7609DDCBF76}"/>
              </a:ext>
            </a:extLst>
          </p:cNvPr>
          <p:cNvGraphicFramePr>
            <a:graphicFrameLocks noGrp="1"/>
          </p:cNvGraphicFramePr>
          <p:nvPr>
            <p:ph idx="1"/>
            <p:extLst>
              <p:ext uri="{D42A27DB-BD31-4B8C-83A1-F6EECF244321}">
                <p14:modId xmlns:p14="http://schemas.microsoft.com/office/powerpoint/2010/main" val="244359495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7" y="1709862"/>
          <a:ext cx="10963656" cy="45137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570382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89E94-A28F-D9BA-326F-7094578A730C}"/>
              </a:ext>
            </a:extLst>
          </p:cNvPr>
          <p:cNvSpPr>
            <a:spLocks noGrp="1"/>
          </p:cNvSpPr>
          <p:nvPr>
            <p:ph type="title"/>
          </p:nvPr>
        </p:nvSpPr>
        <p:spPr>
          <a:xfrm>
            <a:off x="612647" y="475488"/>
            <a:ext cx="6858000" cy="932688"/>
          </a:xfrm>
        </p:spPr>
        <p:txBody>
          <a:bodyPr anchor="b">
            <a:normAutofit/>
          </a:bodyPr>
          <a:lstStyle/>
          <a:p>
            <a:r>
              <a:rPr lang="en-US"/>
              <a:t>Clarification Loop and Query Disambiguation</a:t>
            </a:r>
          </a:p>
        </p:txBody>
      </p:sp>
      <p:sp>
        <p:nvSpPr>
          <p:cNvPr id="4" name="Content Placeholder 3">
            <a:extLst>
              <a:ext uri="{FF2B5EF4-FFF2-40B4-BE49-F238E27FC236}">
                <a16:creationId xmlns:a16="http://schemas.microsoft.com/office/drawing/2014/main" id="{A332BCE6-8038-4C12-A107-43B78540030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b="1" dirty="0"/>
              <a:t>Resolving Query Ambiguity</a:t>
            </a:r>
          </a:p>
          <a:p>
            <a:pPr marL="0" lvl="1" indent="0">
              <a:buFont typeface="Arial" panose="020B0604020202020204" pitchFamily="34" charset="0"/>
              <a:buNone/>
            </a:pPr>
            <a:r>
              <a:rPr dirty="0"/>
              <a:t>The Clarification Loop addresses vague queries by asking targeted questions to get precise user intent before proceeding.</a:t>
            </a:r>
            <a:endParaRPr lang="en-US" dirty="0"/>
          </a:p>
          <a:p>
            <a:pPr marL="0" indent="0">
              <a:spcBef>
                <a:spcPts val="2500"/>
              </a:spcBef>
              <a:buFont typeface="Arial" panose="020B0604020202020204" pitchFamily="34" charset="0"/>
              <a:buNone/>
            </a:pPr>
            <a:r>
              <a:rPr lang="en-US" b="1" dirty="0"/>
              <a:t>Reducing Hallucinations</a:t>
            </a:r>
          </a:p>
          <a:p>
            <a:pPr marL="0" lvl="1" indent="0">
              <a:buFont typeface="Arial" panose="020B0604020202020204" pitchFamily="34" charset="0"/>
              <a:buNone/>
            </a:pPr>
            <a:r>
              <a:rPr dirty="0"/>
              <a:t>By verifying query parameters early, the system minimizes incorrect inferences and improves result accuracy.</a:t>
            </a:r>
            <a:endParaRPr lang="en-US" dirty="0"/>
          </a:p>
          <a:p>
            <a:pPr marL="0" indent="0">
              <a:spcBef>
                <a:spcPts val="2500"/>
              </a:spcBef>
              <a:buFont typeface="Arial" panose="020B0604020202020204" pitchFamily="34" charset="0"/>
              <a:buNone/>
            </a:pPr>
            <a:r>
              <a:rPr lang="en-US" b="1" dirty="0"/>
              <a:t>Multi-turn Conversation Integration</a:t>
            </a:r>
          </a:p>
          <a:p>
            <a:pPr marL="0" lvl="1" indent="0">
              <a:buFont typeface="Arial" panose="020B0604020202020204" pitchFamily="34" charset="0"/>
              <a:buNone/>
            </a:pPr>
            <a:r>
              <a:rPr dirty="0"/>
              <a:t>The system seamlessly merges new user details with previous context for continuous, coherent interactions.</a:t>
            </a:r>
            <a:endParaRPr lang="en-US" dirty="0"/>
          </a:p>
          <a:p>
            <a:pPr marL="0" indent="0">
              <a:spcBef>
                <a:spcPts val="2500"/>
              </a:spcBef>
              <a:buFont typeface="Arial" panose="020B0604020202020204" pitchFamily="34" charset="0"/>
              <a:buNone/>
            </a:pPr>
            <a:r>
              <a:rPr lang="en-US" b="1" dirty="0"/>
              <a:t>Enhanced User Engagement</a:t>
            </a:r>
          </a:p>
          <a:p>
            <a:pPr marL="0" lvl="1" indent="0">
              <a:buFont typeface="Arial" panose="020B0604020202020204" pitchFamily="34" charset="0"/>
              <a:buNone/>
            </a:pPr>
            <a:r>
              <a:rPr dirty="0"/>
              <a:t>Clarification questions guide users to better define their needs, boosting satisfaction and recommendation quality.</a:t>
            </a:r>
            <a:endParaRPr lang="en-US" dirty="0"/>
          </a:p>
        </p:txBody>
      </p:sp>
      <p:pic>
        <p:nvPicPr>
          <p:cNvPr id="5" name="Content Placeholder 4" descr="Human Resources Concept">
            <a:extLst>
              <a:ext uri="{FF2B5EF4-FFF2-40B4-BE49-F238E27FC236}">
                <a16:creationId xmlns:a16="http://schemas.microsoft.com/office/drawing/2014/main" id="{5E3D072A-E897-4144-9E3D-90808BE4DDA9}"/>
              </a:ext>
            </a:extLst>
          </p:cNvPr>
          <p:cNvPicPr>
            <a:picLocks noGrp="1" noChangeAspect="1"/>
          </p:cNvPicPr>
          <p:nvPr>
            <p:ph type="pic" sz="quarter" idx="13"/>
          </p:nvPr>
        </p:nvPicPr>
        <p:blipFill>
          <a:blip r:embed="rId3"/>
          <a:srcRect l="28058" r="30838" b="-1"/>
          <a:stretch>
            <a:fillRect/>
          </a:stretch>
        </p:blipFill>
        <p:spPr>
          <a:xfrm>
            <a:off x="8091732" y="10"/>
            <a:ext cx="4100267" cy="6857990"/>
          </a:xfrm>
        </p:spPr>
      </p:pic>
    </p:spTree>
    <p:extLst>
      <p:ext uri="{BB962C8B-B14F-4D97-AF65-F5344CB8AC3E}">
        <p14:creationId xmlns:p14="http://schemas.microsoft.com/office/powerpoint/2010/main" val="19495037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9299B-61EF-AF61-B631-38880310EE9B}"/>
              </a:ext>
            </a:extLst>
          </p:cNvPr>
          <p:cNvSpPr>
            <a:spLocks noGrp="1"/>
          </p:cNvSpPr>
          <p:nvPr>
            <p:ph type="title"/>
          </p:nvPr>
        </p:nvSpPr>
        <p:spPr>
          <a:xfrm>
            <a:off x="7094553" y="423332"/>
            <a:ext cx="4477512" cy="1328932"/>
          </a:xfrm>
        </p:spPr>
        <p:txBody>
          <a:bodyPr anchor="b">
            <a:normAutofit/>
          </a:bodyPr>
          <a:lstStyle/>
          <a:p>
            <a:r>
              <a:rPr lang="en-US"/>
              <a:t>Session Memory for Multi-Turn Interaction</a:t>
            </a:r>
          </a:p>
        </p:txBody>
      </p:sp>
      <p:pic>
        <p:nvPicPr>
          <p:cNvPr id="5" name="Content Placeholder 4" descr="Global communication and collaboration intricately involving electronic ropes and keys through social networking of smart phones equipped with AI.">
            <a:extLst>
              <a:ext uri="{FF2B5EF4-FFF2-40B4-BE49-F238E27FC236}">
                <a16:creationId xmlns:a16="http://schemas.microsoft.com/office/drawing/2014/main" id="{5E93984D-09E6-4633-A470-9352C4688DD4}"/>
              </a:ext>
            </a:extLst>
          </p:cNvPr>
          <p:cNvPicPr>
            <a:picLocks noGrp="1" noChangeAspect="1"/>
          </p:cNvPicPr>
          <p:nvPr>
            <p:ph type="pic" sz="quarter" idx="13"/>
          </p:nvPr>
        </p:nvPicPr>
        <p:blipFill>
          <a:blip r:embed="rId3"/>
          <a:srcRect l="22391" r="14418" b="-1"/>
          <a:stretch>
            <a:fillRect/>
          </a:stretch>
        </p:blipFill>
        <p:spPr>
          <a:xfrm>
            <a:off x="1" y="10"/>
            <a:ext cx="6492240" cy="6857990"/>
          </a:xfrm>
        </p:spPr>
      </p:pic>
      <p:sp>
        <p:nvSpPr>
          <p:cNvPr id="4" name="Content Placeholder 3">
            <a:extLst>
              <a:ext uri="{FF2B5EF4-FFF2-40B4-BE49-F238E27FC236}">
                <a16:creationId xmlns:a16="http://schemas.microsoft.com/office/drawing/2014/main" id="{90DFF083-6B7A-2739-9896-F39B197767E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4889" y="1975104"/>
            <a:ext cx="4477512" cy="4282573"/>
          </a:xfrm>
        </p:spPr>
        <p:txBody>
          <a:bodyPr>
            <a:normAutofit/>
          </a:bodyPr>
          <a:lstStyle/>
          <a:p>
            <a:pPr marL="0" indent="0">
              <a:spcBef>
                <a:spcPts val="2500"/>
              </a:spcBef>
              <a:buFont typeface="Arial" panose="020B0604020202020204" pitchFamily="34" charset="0"/>
              <a:buNone/>
            </a:pPr>
            <a:r>
              <a:rPr lang="en-US" b="1"/>
              <a:t>Contextual Query Refinement</a:t>
            </a:r>
          </a:p>
          <a:p>
            <a:pPr marL="0" lvl="1" indent="0">
              <a:buFont typeface="Arial" panose="020B0604020202020204" pitchFamily="34" charset="0"/>
              <a:buNone/>
            </a:pPr>
            <a:r>
              <a:t>Session memory allows natural, incremental refinement of user queries across multiple interactions with maintained context.</a:t>
            </a:r>
            <a:endParaRPr lang="en-US"/>
          </a:p>
          <a:p>
            <a:pPr marL="0" indent="0">
              <a:spcBef>
                <a:spcPts val="2500"/>
              </a:spcBef>
              <a:buFont typeface="Arial" panose="020B0604020202020204" pitchFamily="34" charset="0"/>
              <a:buNone/>
            </a:pPr>
            <a:r>
              <a:rPr lang="en-US" b="1"/>
              <a:t>Context Reset on Topic Shift</a:t>
            </a:r>
          </a:p>
          <a:p>
            <a:pPr marL="0" lvl="1" indent="0">
              <a:buFont typeface="Arial" panose="020B0604020202020204" pitchFamily="34" charset="0"/>
              <a:buNone/>
            </a:pPr>
            <a:r>
              <a:t>The system detects domain changes and resets context to prevent incorrect information carryover between topics.</a:t>
            </a:r>
            <a:endParaRPr lang="en-US"/>
          </a:p>
          <a:p>
            <a:pPr marL="0" indent="0">
              <a:spcBef>
                <a:spcPts val="2500"/>
              </a:spcBef>
              <a:buFont typeface="Arial" panose="020B0604020202020204" pitchFamily="34" charset="0"/>
              <a:buNone/>
            </a:pPr>
            <a:r>
              <a:rPr lang="en-US" b="1"/>
              <a:t>Structured Session Data</a:t>
            </a:r>
          </a:p>
          <a:p>
            <a:pPr marL="0" lvl="1" indent="0">
              <a:buFont typeface="Arial" panose="020B0604020202020204" pitchFamily="34" charset="0"/>
              <a:buNone/>
            </a:pPr>
            <a:r>
              <a:t>Storing structured session data reduces noise and improves consistency in multi-step dialogues within industrial workflows.</a:t>
            </a:r>
            <a:endParaRPr lang="en-US"/>
          </a:p>
        </p:txBody>
      </p:sp>
    </p:spTree>
    <p:extLst>
      <p:ext uri="{BB962C8B-B14F-4D97-AF65-F5344CB8AC3E}">
        <p14:creationId xmlns:p14="http://schemas.microsoft.com/office/powerpoint/2010/main" val="1357585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C7B06-9856-C2A4-F7C2-6997E83ACE58}"/>
              </a:ext>
            </a:extLst>
          </p:cNvPr>
          <p:cNvSpPr>
            <a:spLocks noGrp="1"/>
          </p:cNvSpPr>
          <p:nvPr>
            <p:ph type="title"/>
          </p:nvPr>
        </p:nvSpPr>
        <p:spPr>
          <a:xfrm>
            <a:off x="111758" y="1869103"/>
            <a:ext cx="9337042" cy="4906929"/>
          </a:xfrm>
        </p:spPr>
        <p:txBody>
          <a:bodyPr anchor="b">
            <a:normAutofit/>
          </a:bodyPr>
          <a:lstStyle/>
          <a:p>
            <a:r>
              <a:rPr lang="en-US"/>
              <a:t>Evaluation, Lessons, and Future</a:t>
            </a:r>
          </a:p>
        </p:txBody>
      </p:sp>
    </p:spTree>
    <p:extLst>
      <p:ext uri="{BB962C8B-B14F-4D97-AF65-F5344CB8AC3E}">
        <p14:creationId xmlns:p14="http://schemas.microsoft.com/office/powerpoint/2010/main" val="21572841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B2B4B-3224-BE1C-99B3-DC19B8256CC2}"/>
              </a:ext>
            </a:extLst>
          </p:cNvPr>
          <p:cNvSpPr>
            <a:spLocks noGrp="1"/>
          </p:cNvSpPr>
          <p:nvPr>
            <p:ph type="title"/>
          </p:nvPr>
        </p:nvSpPr>
        <p:spPr>
          <a:xfrm>
            <a:off x="612648" y="706802"/>
            <a:ext cx="4672584" cy="1269482"/>
          </a:xfrm>
        </p:spPr>
        <p:txBody>
          <a:bodyPr anchor="t">
            <a:normAutofit/>
          </a:bodyPr>
          <a:lstStyle/>
          <a:p>
            <a:r>
              <a:rPr lang="en-US"/>
              <a:t>Lessons Learned from Deployment</a:t>
            </a:r>
          </a:p>
        </p:txBody>
      </p:sp>
      <p:pic>
        <p:nvPicPr>
          <p:cNvPr id="5" name="Content Placeholder 4" descr="4K Resolution">
            <a:extLst>
              <a:ext uri="{FF2B5EF4-FFF2-40B4-BE49-F238E27FC236}">
                <a16:creationId xmlns:a16="http://schemas.microsoft.com/office/drawing/2014/main" id="{70F42293-C548-44EE-9959-44F2CD99792A}"/>
              </a:ext>
            </a:extLst>
          </p:cNvPr>
          <p:cNvPicPr>
            <a:picLocks noGrp="1" noChangeAspect="1"/>
          </p:cNvPicPr>
          <p:nvPr>
            <p:ph type="pic" sz="quarter" idx="13"/>
          </p:nvPr>
        </p:nvPicPr>
        <p:blipFill>
          <a:blip r:embed="rId3"/>
          <a:srcRect l="17448" r="17770" b="-2"/>
          <a:stretch>
            <a:fillRect/>
          </a:stretch>
        </p:blipFill>
        <p:spPr>
          <a:xfrm>
            <a:off x="720468" y="2173850"/>
            <a:ext cx="4564763" cy="3963682"/>
          </a:xfrm>
        </p:spPr>
      </p:pic>
      <p:sp>
        <p:nvSpPr>
          <p:cNvPr id="4" name="Content Placeholder 3">
            <a:extLst>
              <a:ext uri="{FF2B5EF4-FFF2-40B4-BE49-F238E27FC236}">
                <a16:creationId xmlns:a16="http://schemas.microsoft.com/office/drawing/2014/main" id="{D6AA6F5A-9B13-EF68-52D5-CBE54824591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Clarification-First Strategy</a:t>
            </a:r>
          </a:p>
          <a:p>
            <a:pPr marL="0" lvl="1" indent="0">
              <a:buFont typeface="Arial" panose="020B0604020202020204" pitchFamily="34" charset="0"/>
              <a:buNone/>
            </a:pPr>
            <a:r>
              <a:t>Clarification-first approach reduced hallucinations and improved user satisfaction by capturing missing constraints early.</a:t>
            </a:r>
            <a:endParaRPr lang="en-US"/>
          </a:p>
          <a:p>
            <a:pPr marL="0" indent="0">
              <a:spcBef>
                <a:spcPts val="2500"/>
              </a:spcBef>
              <a:buFont typeface="Arial" panose="020B0604020202020204" pitchFamily="34" charset="0"/>
              <a:buNone/>
            </a:pPr>
            <a:r>
              <a:rPr lang="en-US" b="1"/>
              <a:t>Hybrid Search Advantages</a:t>
            </a:r>
          </a:p>
          <a:p>
            <a:pPr marL="0" lvl="1" indent="0">
              <a:buFont typeface="Arial" panose="020B0604020202020204" pitchFamily="34" charset="0"/>
              <a:buNone/>
            </a:pPr>
            <a:r>
              <a:t>Hybrid search combined semantic and metadata searches to achieve precise specification matching and better results.</a:t>
            </a:r>
            <a:endParaRPr lang="en-US"/>
          </a:p>
          <a:p>
            <a:pPr marL="0" indent="0">
              <a:spcBef>
                <a:spcPts val="2500"/>
              </a:spcBef>
              <a:buFont typeface="Arial" panose="020B0604020202020204" pitchFamily="34" charset="0"/>
              <a:buNone/>
            </a:pPr>
            <a:r>
              <a:rPr lang="en-US" b="1"/>
              <a:t>Deterministic Filtering Reliability</a:t>
            </a:r>
          </a:p>
          <a:p>
            <a:pPr marL="0" lvl="1" indent="0">
              <a:buFont typeface="Arial" panose="020B0604020202020204" pitchFamily="34" charset="0"/>
              <a:buNone/>
            </a:pPr>
            <a:r>
              <a:t>Deterministic filtering before LLM involvement ensured reproducibility and minimized error propagation for industrial use.</a:t>
            </a:r>
            <a:endParaRPr lang="en-US"/>
          </a:p>
          <a:p>
            <a:pPr marL="0" indent="0">
              <a:spcBef>
                <a:spcPts val="2500"/>
              </a:spcBef>
              <a:buFont typeface="Arial" panose="020B0604020202020204" pitchFamily="34" charset="0"/>
              <a:buNone/>
            </a:pPr>
            <a:r>
              <a:rPr lang="en-US" b="1"/>
              <a:t>Operational Challenges</a:t>
            </a:r>
          </a:p>
          <a:p>
            <a:pPr marL="0" lvl="1" indent="0">
              <a:buFont typeface="Arial" panose="020B0604020202020204" pitchFamily="34" charset="0"/>
              <a:buNone/>
            </a:pPr>
            <a:r>
              <a:t>Issues like metadata inconsistencies, context management complexity, and FAISS index rebuilding introduced operational overhead.</a:t>
            </a:r>
            <a:endParaRPr lang="en-US"/>
          </a:p>
        </p:txBody>
      </p:sp>
    </p:spTree>
    <p:extLst>
      <p:ext uri="{BB962C8B-B14F-4D97-AF65-F5344CB8AC3E}">
        <p14:creationId xmlns:p14="http://schemas.microsoft.com/office/powerpoint/2010/main" val="15502093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D9BD3-2A42-155F-B4F2-E38F6B9B3482}"/>
              </a:ext>
            </a:extLst>
          </p:cNvPr>
          <p:cNvSpPr>
            <a:spLocks noGrp="1"/>
          </p:cNvSpPr>
          <p:nvPr>
            <p:ph type="title"/>
          </p:nvPr>
        </p:nvSpPr>
        <p:spPr>
          <a:xfrm>
            <a:off x="612648" y="706802"/>
            <a:ext cx="4672584" cy="1269482"/>
          </a:xfrm>
        </p:spPr>
        <p:txBody>
          <a:bodyPr anchor="t">
            <a:normAutofit/>
          </a:bodyPr>
          <a:lstStyle/>
          <a:p>
            <a:r>
              <a:rPr lang="en-US"/>
              <a:t>Future Enhancements and Roadmap</a:t>
            </a:r>
          </a:p>
        </p:txBody>
      </p:sp>
      <p:pic>
        <p:nvPicPr>
          <p:cNvPr id="5" name="Content Placeholder 4"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0119F16D-B305-4110-932E-AE675F8F8118}"/>
              </a:ext>
            </a:extLst>
          </p:cNvPr>
          <p:cNvPicPr>
            <a:picLocks noGrp="1" noChangeAspect="1"/>
          </p:cNvPicPr>
          <p:nvPr>
            <p:ph type="pic" sz="quarter" idx="13"/>
          </p:nvPr>
        </p:nvPicPr>
        <p:blipFill>
          <a:blip r:embed="rId3"/>
          <a:srcRect l="20673" r="18577" b="-1"/>
          <a:stretch>
            <a:fillRect/>
          </a:stretch>
        </p:blipFill>
        <p:spPr>
          <a:xfrm>
            <a:off x="720468" y="2173850"/>
            <a:ext cx="4564763" cy="3963682"/>
          </a:xfrm>
        </p:spPr>
      </p:pic>
      <p:sp>
        <p:nvSpPr>
          <p:cNvPr id="4" name="Content Placeholder 3">
            <a:extLst>
              <a:ext uri="{FF2B5EF4-FFF2-40B4-BE49-F238E27FC236}">
                <a16:creationId xmlns:a16="http://schemas.microsoft.com/office/drawing/2014/main" id="{496D6C6B-5E30-53CF-3E44-32111CA23D4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Tool Comparison Features</a:t>
            </a:r>
          </a:p>
          <a:p>
            <a:pPr marL="0" lvl="1" indent="0">
              <a:buFont typeface="Arial" panose="020B0604020202020204" pitchFamily="34" charset="0"/>
              <a:buNone/>
            </a:pPr>
            <a:r>
              <a:t>Future updates will enable side-by-side evaluation of tools based on torque, weight, voltage, and speed.</a:t>
            </a:r>
            <a:endParaRPr lang="en-US"/>
          </a:p>
          <a:p>
            <a:pPr marL="0" indent="0">
              <a:spcBef>
                <a:spcPts val="2500"/>
              </a:spcBef>
              <a:buFont typeface="Arial" panose="020B0604020202020204" pitchFamily="34" charset="0"/>
              <a:buNone/>
            </a:pPr>
            <a:r>
              <a:rPr lang="en-US" b="1"/>
              <a:t>Enhanced Sales and Procurement</a:t>
            </a:r>
          </a:p>
          <a:p>
            <a:pPr marL="0" lvl="1" indent="0">
              <a:buFont typeface="Arial" panose="020B0604020202020204" pitchFamily="34" charset="0"/>
              <a:buNone/>
            </a:pPr>
            <a:r>
              <a:t>Integrating price filtering and availability data will create a comprehensive sales and procurement advisor.</a:t>
            </a:r>
            <a:endParaRPr lang="en-US"/>
          </a:p>
          <a:p>
            <a:pPr marL="0" indent="0">
              <a:spcBef>
                <a:spcPts val="2500"/>
              </a:spcBef>
              <a:buFont typeface="Arial" panose="020B0604020202020204" pitchFamily="34" charset="0"/>
              <a:buNone/>
            </a:pPr>
            <a:r>
              <a:rPr lang="en-US" b="1"/>
              <a:t>User Interaction Improvements</a:t>
            </a:r>
          </a:p>
          <a:p>
            <a:pPr marL="0" lvl="1" indent="0">
              <a:buFont typeface="Arial" panose="020B0604020202020204" pitchFamily="34" charset="0"/>
              <a:buNone/>
            </a:pPr>
            <a:r>
              <a:t>Voice interface and PDF export will simplify interactions and support reporting needs.</a:t>
            </a:r>
            <a:endParaRPr lang="en-US"/>
          </a:p>
          <a:p>
            <a:pPr marL="0" indent="0">
              <a:spcBef>
                <a:spcPts val="2500"/>
              </a:spcBef>
              <a:buFont typeface="Arial" panose="020B0604020202020204" pitchFamily="34" charset="0"/>
              <a:buNone/>
            </a:pPr>
            <a:r>
              <a:rPr lang="en-US" b="1"/>
              <a:t>System Architecture and Integration</a:t>
            </a:r>
          </a:p>
          <a:p>
            <a:pPr marL="0" lvl="1" indent="0">
              <a:buFont typeface="Arial" panose="020B0604020202020204" pitchFamily="34" charset="0"/>
              <a:buNone/>
            </a:pPr>
            <a:r>
              <a:t>Maintaining structured intelligence and deeper ERP integration will ensure scalability and trust.</a:t>
            </a:r>
            <a:endParaRPr lang="en-US"/>
          </a:p>
        </p:txBody>
      </p:sp>
    </p:spTree>
    <p:extLst>
      <p:ext uri="{BB962C8B-B14F-4D97-AF65-F5344CB8AC3E}">
        <p14:creationId xmlns:p14="http://schemas.microsoft.com/office/powerpoint/2010/main" val="7986411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0CEB72-9B64-43A4-9652-F0FED519FBF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E2DB56F-85EA-457A-BE7B-FD342652DF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3B79205-1ECA-438E-AAC0-B28ABB0DD1E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Helena</Template>
  <TotalTime>205</TotalTime>
  <Words>2602</Words>
  <Application>Microsoft Office PowerPoint</Application>
  <PresentationFormat>Widescreen</PresentationFormat>
  <Paragraphs>112</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Neue Haas Grotesk Text Pro</vt:lpstr>
      <vt:lpstr>Helena</vt:lpstr>
      <vt:lpstr>Building an Intelligent Industrial Product Configurator</vt:lpstr>
      <vt:lpstr>Industrial Tool Advisor Overview</vt:lpstr>
      <vt:lpstr>Core Features of the Intelligent Tool Advisor</vt:lpstr>
      <vt:lpstr>Challenges in Accessing Industrial Tools</vt:lpstr>
      <vt:lpstr>Solution and Architecture</vt:lpstr>
      <vt:lpstr>AI-Powered Solution Workflow</vt:lpstr>
      <vt:lpstr>Sequence Diagram</vt:lpstr>
      <vt:lpstr>Platform Architecture Components</vt:lpstr>
      <vt:lpstr>Innovations and Enhancements</vt:lpstr>
      <vt:lpstr>Hybrid Retrieval Mechanism</vt:lpstr>
      <vt:lpstr>Clarification Loop and Query Disambiguation</vt:lpstr>
      <vt:lpstr>Session Memory for Multi-Turn Interaction</vt:lpstr>
      <vt:lpstr>Evaluation, Lessons, and Future</vt:lpstr>
      <vt:lpstr>Lessons Learned from Deployment</vt:lpstr>
      <vt:lpstr>Future Enhancements and 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Srihari Veera Venkata Satyanarayana Bondada (SX/EDC1-MM)</dc:creator>
  <cp:lastModifiedBy>Srihari Veera Venkata Satyanarayana Bondada (SX/EDC1-MM)</cp:lastModifiedBy>
  <cp:revision>6</cp:revision>
  <dcterms:created xsi:type="dcterms:W3CDTF">2025-08-21T23:24:42Z</dcterms:created>
  <dcterms:modified xsi:type="dcterms:W3CDTF">2026-02-25T07:36:04Z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